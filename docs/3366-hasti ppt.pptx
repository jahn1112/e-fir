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80" r:id="rId1"/>
  </p:sldMasterIdLst>
  <p:sldIdLst>
    <p:sldId id="300" r:id="rId2"/>
    <p:sldId id="257" r:id="rId3"/>
    <p:sldId id="258" r:id="rId4"/>
    <p:sldId id="311" r:id="rId5"/>
    <p:sldId id="259" r:id="rId6"/>
    <p:sldId id="310" r:id="rId7"/>
    <p:sldId id="296" r:id="rId8"/>
    <p:sldId id="297" r:id="rId9"/>
    <p:sldId id="301" r:id="rId10"/>
    <p:sldId id="302" r:id="rId11"/>
    <p:sldId id="260" r:id="rId12"/>
    <p:sldId id="303" r:id="rId13"/>
    <p:sldId id="304" r:id="rId14"/>
    <p:sldId id="305" r:id="rId15"/>
    <p:sldId id="306" r:id="rId16"/>
    <p:sldId id="307" r:id="rId17"/>
    <p:sldId id="309" r:id="rId18"/>
    <p:sldId id="29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3" d="100"/>
          <a:sy n="93" d="100"/>
        </p:scale>
        <p:origin x="53"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24811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89022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3956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5661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92763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49927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37628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47773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00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67883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679231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69249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163915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893793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21369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555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3/22/2025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2689221"/>
      </p:ext>
    </p:extLst>
  </p:cSld>
  <p:clrMap bg1="lt1" tx1="dk1" bg2="lt2" tx2="dk2" accent1="accent1" accent2="accent2" accent3="accent3" accent4="accent4" accent5="accent5" accent6="accent6" hlink="hlink" folHlink="folHlink"/>
  <p:sldLayoutIdLst>
    <p:sldLayoutId id="2147483881" r:id="rId1"/>
    <p:sldLayoutId id="2147483882" r:id="rId2"/>
    <p:sldLayoutId id="2147483883" r:id="rId3"/>
    <p:sldLayoutId id="2147483884" r:id="rId4"/>
    <p:sldLayoutId id="2147483885" r:id="rId5"/>
    <p:sldLayoutId id="2147483886" r:id="rId6"/>
    <p:sldLayoutId id="2147483887" r:id="rId7"/>
    <p:sldLayoutId id="2147483888" r:id="rId8"/>
    <p:sldLayoutId id="2147483889" r:id="rId9"/>
    <p:sldLayoutId id="2147483890" r:id="rId10"/>
    <p:sldLayoutId id="2147483891" r:id="rId11"/>
    <p:sldLayoutId id="2147483892" r:id="rId12"/>
    <p:sldLayoutId id="2147483893" r:id="rId13"/>
    <p:sldLayoutId id="2147483894" r:id="rId14"/>
    <p:sldLayoutId id="2147483895" r:id="rId15"/>
    <p:sldLayoutId id="214748389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01366" y="512191"/>
            <a:ext cx="6096000" cy="2482539"/>
          </a:xfrm>
          <a:prstGeom prst="rect">
            <a:avLst/>
          </a:prstGeom>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lgn="ctr">
              <a:lnSpc>
                <a:spcPct val="115000"/>
              </a:lnSpc>
              <a:spcAft>
                <a:spcPts val="1000"/>
              </a:spcAft>
              <a:buNone/>
            </a:pPr>
            <a:r>
              <a:rPr lang="en-US" sz="2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0" marR="0" algn="ctr">
              <a:lnSpc>
                <a:spcPct val="115000"/>
              </a:lnSpc>
              <a:spcAft>
                <a:spcPts val="1000"/>
              </a:spcAft>
              <a:buNone/>
            </a:pPr>
            <a:r>
              <a:rPr lang="en-US" sz="24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college</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SHRI</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SHAMBHUBHAI V. PATEL COLLEGE OF</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COMPUTER SCIENCE &amp; BUSINESS</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MANAGEMENT</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indent="-571500" algn="ctr">
              <a:lnSpc>
                <a:spcPct val="115000"/>
              </a:lnSpc>
              <a:tabLst>
                <a:tab pos="0" algn="l"/>
                <a:tab pos="7429500" algn="l"/>
              </a:tabLst>
            </a:pPr>
            <a:r>
              <a:rPr lang="en-US" sz="2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of computer science &amp;business management</a:t>
            </a:r>
          </a:p>
        </p:txBody>
      </p:sp>
      <p:pic>
        <p:nvPicPr>
          <p:cNvPr id="7" name="Picture 6">
            <a:extLst>
              <a:ext uri="{FF2B5EF4-FFF2-40B4-BE49-F238E27FC236}">
                <a16:creationId xmlns:a16="http://schemas.microsoft.com/office/drawing/2014/main" id="{77A9E017-B6BE-A1F9-2DF9-9027772F4691}"/>
              </a:ext>
            </a:extLst>
          </p:cNvPr>
          <p:cNvPicPr>
            <a:picLocks noChangeAspect="1"/>
          </p:cNvPicPr>
          <p:nvPr/>
        </p:nvPicPr>
        <p:blipFill>
          <a:blip r:embed="rId2"/>
          <a:stretch>
            <a:fillRect/>
          </a:stretch>
        </p:blipFill>
        <p:spPr>
          <a:xfrm>
            <a:off x="953797" y="546883"/>
            <a:ext cx="2158171" cy="2024047"/>
          </a:xfrm>
          <a:prstGeom prst="rect">
            <a:avLst/>
          </a:prstGeom>
        </p:spPr>
      </p:pic>
      <p:sp>
        <p:nvSpPr>
          <p:cNvPr id="22" name="TextBox 21">
            <a:extLst>
              <a:ext uri="{FF2B5EF4-FFF2-40B4-BE49-F238E27FC236}">
                <a16:creationId xmlns:a16="http://schemas.microsoft.com/office/drawing/2014/main" id="{03EAD796-5EF4-6DD6-D191-3A9F5E681342}"/>
              </a:ext>
            </a:extLst>
          </p:cNvPr>
          <p:cNvSpPr txBox="1"/>
          <p:nvPr/>
        </p:nvSpPr>
        <p:spPr>
          <a:xfrm>
            <a:off x="2526527" y="3226654"/>
            <a:ext cx="6102626" cy="583750"/>
          </a:xfrm>
          <a:prstGeom prst="rect">
            <a:avLst/>
          </a:prstGeom>
          <a:noFill/>
        </p:spPr>
        <p:txBody>
          <a:bodyPr wrap="square">
            <a:spAutoFit/>
          </a:bodyPr>
          <a:lstStyle/>
          <a:p>
            <a:pPr marL="1617980" indent="0" algn="just">
              <a:lnSpc>
                <a:spcPct val="107000"/>
              </a:lnSpc>
              <a:spcAft>
                <a:spcPts val="1435"/>
              </a:spcAft>
              <a:buNone/>
            </a:pPr>
            <a:r>
              <a:rPr lang="en-IN" sz="3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Brain chip technology</a:t>
            </a:r>
            <a:endParaRPr lang="en-IN" sz="3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id="{2C6C8284-61A5-CDF4-4419-1020B54FF241}"/>
              </a:ext>
            </a:extLst>
          </p:cNvPr>
          <p:cNvSpPr txBox="1"/>
          <p:nvPr/>
        </p:nvSpPr>
        <p:spPr>
          <a:xfrm>
            <a:off x="3035410" y="3246611"/>
            <a:ext cx="6102626" cy="368755"/>
          </a:xfrm>
          <a:prstGeom prst="rect">
            <a:avLst/>
          </a:prstGeom>
          <a:noFill/>
        </p:spPr>
        <p:txBody>
          <a:bodyPr wrap="square">
            <a:spAutoFit/>
          </a:bodyPr>
          <a:lstStyle/>
          <a:p>
            <a:pPr marL="1617980" indent="0" algn="just">
              <a:lnSpc>
                <a:spcPct val="107000"/>
              </a:lnSpc>
              <a:spcAft>
                <a:spcPts val="1435"/>
              </a:spcAft>
              <a:buNone/>
            </a:pPr>
            <a: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2" name="TextBox 31">
            <a:extLst>
              <a:ext uri="{FF2B5EF4-FFF2-40B4-BE49-F238E27FC236}">
                <a16:creationId xmlns:a16="http://schemas.microsoft.com/office/drawing/2014/main" id="{0DF28477-29AD-8D72-FCC1-CF57DB291AB3}"/>
              </a:ext>
            </a:extLst>
          </p:cNvPr>
          <p:cNvSpPr txBox="1"/>
          <p:nvPr/>
        </p:nvSpPr>
        <p:spPr>
          <a:xfrm>
            <a:off x="3035410" y="3169378"/>
            <a:ext cx="6102626" cy="556434"/>
          </a:xfrm>
          <a:prstGeom prst="rect">
            <a:avLst/>
          </a:prstGeom>
          <a:noFill/>
        </p:spPr>
        <p:txBody>
          <a:bodyPr wrap="square">
            <a:spAutoFit/>
          </a:bodyPr>
          <a:lstStyle/>
          <a:p>
            <a:pPr marL="0" marR="0">
              <a:lnSpc>
                <a:spcPct val="115000"/>
              </a:lnSpc>
              <a:spcAft>
                <a:spcPts val="1000"/>
              </a:spcAft>
              <a:buNone/>
            </a:pPr>
            <a:r>
              <a:rPr lang="en-IN" sz="2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brain chip technology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4" name="TextBox 33">
            <a:extLst>
              <a:ext uri="{FF2B5EF4-FFF2-40B4-BE49-F238E27FC236}">
                <a16:creationId xmlns:a16="http://schemas.microsoft.com/office/drawing/2014/main" id="{A9037401-8EE5-7124-DBE5-18E870B95069}"/>
              </a:ext>
            </a:extLst>
          </p:cNvPr>
          <p:cNvSpPr txBox="1"/>
          <p:nvPr/>
        </p:nvSpPr>
        <p:spPr>
          <a:xfrm>
            <a:off x="7567080" y="4469164"/>
            <a:ext cx="6102626" cy="369332"/>
          </a:xfrm>
          <a:prstGeom prst="rect">
            <a:avLst/>
          </a:prstGeom>
          <a:noFill/>
        </p:spPr>
        <p:txBody>
          <a:bodyPr wrap="square">
            <a:spAutoFit/>
          </a:bodyPr>
          <a:lstStyle/>
          <a:p>
            <a:pPr marL="0" marR="0" lvl="0" indent="171450" algn="l" defTabSz="914400" rtl="0" eaLnBrk="0" fontAlgn="base" latinLnBrk="0" hangingPunct="0">
              <a:lnSpc>
                <a:spcPct val="100000"/>
              </a:lnSpc>
              <a:spcBef>
                <a:spcPct val="0"/>
              </a:spcBef>
              <a:spcAft>
                <a:spcPct val="0"/>
              </a:spcAft>
              <a:buClrTx/>
              <a:buSzTx/>
              <a:buFontTx/>
              <a:buNone/>
              <a:tabLst>
                <a:tab pos="171450" algn="l"/>
              </a:tabLst>
            </a:pPr>
            <a:r>
              <a:rPr kumimoji="0" lang="en-US" altLang="en-US" sz="1800"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SUBMITED BY:	</a:t>
            </a:r>
          </a:p>
        </p:txBody>
      </p:sp>
      <p:sp>
        <p:nvSpPr>
          <p:cNvPr id="44" name="TextBox 43">
            <a:extLst>
              <a:ext uri="{FF2B5EF4-FFF2-40B4-BE49-F238E27FC236}">
                <a16:creationId xmlns:a16="http://schemas.microsoft.com/office/drawing/2014/main" id="{74220B5A-E706-27EA-B7D1-54EE1D83E093}"/>
              </a:ext>
            </a:extLst>
          </p:cNvPr>
          <p:cNvSpPr txBox="1"/>
          <p:nvPr/>
        </p:nvSpPr>
        <p:spPr>
          <a:xfrm>
            <a:off x="8005119" y="4792777"/>
            <a:ext cx="6849762" cy="369332"/>
          </a:xfrm>
          <a:prstGeom prst="rect">
            <a:avLst/>
          </a:prstGeom>
          <a:noFill/>
        </p:spPr>
        <p:txBody>
          <a:bodyPr wrap="square">
            <a:spAutoFit/>
          </a:bodyPr>
          <a:lstStyle/>
          <a:p>
            <a:r>
              <a:rPr lang="en-US" alt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SANGANI HASTI HITESHBHAI</a:t>
            </a:r>
            <a:endParaRPr lang="en-US" dirty="0"/>
          </a:p>
        </p:txBody>
      </p:sp>
      <p:sp>
        <p:nvSpPr>
          <p:cNvPr id="50" name="TextBox 49">
            <a:extLst>
              <a:ext uri="{FF2B5EF4-FFF2-40B4-BE49-F238E27FC236}">
                <a16:creationId xmlns:a16="http://schemas.microsoft.com/office/drawing/2014/main" id="{B62852E5-0949-327E-D1D6-F88D44B6019D}"/>
              </a:ext>
            </a:extLst>
          </p:cNvPr>
          <p:cNvSpPr txBox="1"/>
          <p:nvPr/>
        </p:nvSpPr>
        <p:spPr>
          <a:xfrm>
            <a:off x="8629153" y="5078862"/>
            <a:ext cx="2609335" cy="646331"/>
          </a:xfrm>
          <a:prstGeom prst="rect">
            <a:avLst/>
          </a:prstGeom>
          <a:noFill/>
        </p:spPr>
        <p:txBody>
          <a:bodyPr wrap="square">
            <a:spAutoFit/>
          </a:bodyPr>
          <a:lstStyle/>
          <a:p>
            <a:r>
              <a:rPr kumimoji="0" lang="en-US" altLang="en-US" sz="1800"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SEAT NO:  3366</a:t>
            </a:r>
          </a:p>
          <a:p>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endParaRPr lang="en-US" dirty="0"/>
          </a:p>
        </p:txBody>
      </p:sp>
    </p:spTree>
    <p:extLst>
      <p:ext uri="{BB962C8B-B14F-4D97-AF65-F5344CB8AC3E}">
        <p14:creationId xmlns:p14="http://schemas.microsoft.com/office/powerpoint/2010/main" val="3740086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a:t>
            </a:r>
            <a:endParaRPr lang="en-US" dirty="0"/>
          </a:p>
        </p:txBody>
      </p:sp>
      <p:sp>
        <p:nvSpPr>
          <p:cNvPr id="3" name="Content Placeholder 2"/>
          <p:cNvSpPr>
            <a:spLocks noGrp="1"/>
          </p:cNvSpPr>
          <p:nvPr>
            <p:ph idx="1"/>
          </p:nvPr>
        </p:nvSpPr>
        <p:spPr>
          <a:xfrm>
            <a:off x="1141413" y="2133599"/>
            <a:ext cx="10363199" cy="4092539"/>
          </a:xfrm>
        </p:spPr>
        <p:txBody>
          <a:bodyPr>
            <a:normAutofit lnSpcReduction="10000"/>
          </a:bodyPr>
          <a:lstStyle/>
          <a:p>
            <a:r>
              <a:rPr lang="en-US" sz="2000" b="1" dirty="0"/>
              <a:t>Introduction </a:t>
            </a:r>
          </a:p>
          <a:p>
            <a:r>
              <a:rPr lang="en-US" sz="2000" b="1" dirty="0"/>
              <a:t>history</a:t>
            </a:r>
          </a:p>
          <a:p>
            <a:r>
              <a:rPr lang="en-US" sz="2000" b="1" dirty="0">
                <a:effectLst/>
              </a:rPr>
              <a:t>Brain chip application</a:t>
            </a:r>
          </a:p>
          <a:p>
            <a:r>
              <a:rPr lang="en-US" sz="2000" b="1" dirty="0"/>
              <a:t>Brain chip diagrams and figures</a:t>
            </a:r>
          </a:p>
          <a:p>
            <a:r>
              <a:rPr lang="en-US" sz="2000" b="1" dirty="0">
                <a:effectLst/>
              </a:rPr>
              <a:t>Brain chip related comparative technology</a:t>
            </a:r>
          </a:p>
          <a:p>
            <a:r>
              <a:rPr lang="en-US" sz="2000" b="1" dirty="0">
                <a:effectLst/>
              </a:rPr>
              <a:t>Advantage</a:t>
            </a:r>
            <a:endParaRPr lang="en-US" sz="2000" b="1" dirty="0"/>
          </a:p>
          <a:p>
            <a:r>
              <a:rPr lang="en-US" sz="2000" b="1" dirty="0"/>
              <a:t>Disadvantages </a:t>
            </a:r>
          </a:p>
          <a:p>
            <a:r>
              <a:rPr lang="en-US" sz="2000" b="1" dirty="0">
                <a:effectLst/>
                <a:latin typeface="Calibri" panose="020F0502020204030204" pitchFamily="34" charset="0"/>
                <a:ea typeface="Calibri" panose="020F0502020204030204" pitchFamily="34" charset="0"/>
                <a:cs typeface="Times New Roman" panose="02020603050405020304" pitchFamily="18" charset="0"/>
              </a:rPr>
              <a:t>future enhancement of brain chip </a:t>
            </a:r>
            <a:endParaRPr lang="en-US" sz="2000" b="1" dirty="0"/>
          </a:p>
          <a:p>
            <a:r>
              <a:rPr lang="en-US" sz="2000" b="1" dirty="0">
                <a:effectLst/>
              </a:rPr>
              <a:t>Diagram</a:t>
            </a:r>
            <a:endParaRPr lang="en-US" sz="2000" b="1" dirty="0"/>
          </a:p>
          <a:p>
            <a:r>
              <a:rPr lang="en-US" sz="2000" b="1" dirty="0"/>
              <a:t>Conclusion</a:t>
            </a:r>
          </a:p>
          <a:p>
            <a:pPr marL="0" indent="0">
              <a:buNone/>
            </a:pPr>
            <a:endParaRPr lang="en-US" dirty="0"/>
          </a:p>
          <a:p>
            <a:endParaRPr lang="en-US" dirty="0"/>
          </a:p>
        </p:txBody>
      </p:sp>
    </p:spTree>
    <p:extLst>
      <p:ext uri="{BB962C8B-B14F-4D97-AF65-F5344CB8AC3E}">
        <p14:creationId xmlns:p14="http://schemas.microsoft.com/office/powerpoint/2010/main" val="2059954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03562"/>
            <a:ext cx="10363200" cy="1280890"/>
          </a:xfrm>
        </p:spPr>
        <p:txBody>
          <a:bodyPr/>
          <a:lstStyle/>
          <a:p>
            <a:r>
              <a:rPr lang="en-US" b="1" dirty="0"/>
              <a:t>Introduction</a:t>
            </a:r>
            <a:endParaRPr lang="en-US" dirty="0"/>
          </a:p>
        </p:txBody>
      </p:sp>
      <p:sp>
        <p:nvSpPr>
          <p:cNvPr id="5" name="Content Placeholder 4">
            <a:extLst>
              <a:ext uri="{FF2B5EF4-FFF2-40B4-BE49-F238E27FC236}">
                <a16:creationId xmlns:a16="http://schemas.microsoft.com/office/drawing/2014/main" id="{C2EFDCFD-196F-6F5D-E6BC-563F4FE1670A}"/>
              </a:ext>
            </a:extLst>
          </p:cNvPr>
          <p:cNvSpPr>
            <a:spLocks noGrp="1"/>
          </p:cNvSpPr>
          <p:nvPr>
            <p:ph idx="1"/>
          </p:nvPr>
        </p:nvSpPr>
        <p:spPr/>
        <p:txBody>
          <a:bodyPr>
            <a:normAutofit/>
          </a:bodyPr>
          <a:lstStyle/>
          <a:p>
            <a:r>
              <a:rPr lang="en-US" sz="1800" dirty="0">
                <a:effectLst/>
                <a:latin typeface="Times New Roman" panose="02020603050405020304" pitchFamily="18" charset="0"/>
                <a:ea typeface="Calibri" panose="020F0502020204030204" pitchFamily="34" charset="0"/>
              </a:rPr>
              <a:t>Brain chip technology, also known as brain-computer interface (BCI), is an emerging field that enables direct communication between the human brain and external devices. </a:t>
            </a:r>
          </a:p>
          <a:p>
            <a:r>
              <a:rPr lang="en-US" sz="1800" dirty="0">
                <a:effectLst/>
                <a:latin typeface="Times New Roman" panose="02020603050405020304" pitchFamily="18" charset="0"/>
                <a:ea typeface="Calibri" panose="020F0502020204030204" pitchFamily="34" charset="0"/>
              </a:rPr>
              <a:t>These neural implants are designed to restore lost neurological functions, enhance cognitive abilities, and enable seamless interaction with digital systems. </a:t>
            </a:r>
            <a:endParaRPr lang="en-US" dirty="0">
              <a:latin typeface="Times New Roman" panose="02020603050405020304" pitchFamily="18" charset="0"/>
              <a:ea typeface="Calibri" panose="020F0502020204030204" pitchFamily="34" charset="0"/>
            </a:endParaRPr>
          </a:p>
          <a:p>
            <a:r>
              <a:rPr lang="en-US" sz="1800" dirty="0">
                <a:effectLst/>
                <a:latin typeface="Times New Roman" panose="02020603050405020304" pitchFamily="18" charset="0"/>
                <a:ea typeface="Calibri" panose="020F0502020204030204" pitchFamily="34" charset="0"/>
              </a:rPr>
              <a:t>This technology operates by recording and interpreting neural signals using electrodes implanted brain.</a:t>
            </a:r>
          </a:p>
          <a:p>
            <a:r>
              <a:rPr lang="en-US" sz="1800" dirty="0">
                <a:effectLst/>
                <a:latin typeface="Times New Roman" panose="02020603050405020304" pitchFamily="18" charset="0"/>
                <a:ea typeface="Calibri" panose="020F0502020204030204" pitchFamily="34" charset="0"/>
              </a:rPr>
              <a:t>Machine learning algorithms then translate these signals into actionable commands for external devices</a:t>
            </a:r>
            <a:endParaRPr lang="en-US" dirty="0">
              <a:latin typeface="Times New Roman" panose="02020603050405020304" pitchFamily="18" charset="0"/>
              <a:ea typeface="Calibri" panose="020F0502020204030204" pitchFamily="34" charset="0"/>
            </a:endParaRPr>
          </a:p>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Future research aims to refine the safety, efficiency, and accessibility of brain chips, potentially leading to widespread adoption in medical and non-medical domains.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810205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B539C-3D5D-864C-1C60-F8D80408E16E}"/>
              </a:ext>
            </a:extLst>
          </p:cNvPr>
          <p:cNvSpPr>
            <a:spLocks noGrp="1"/>
          </p:cNvSpPr>
          <p:nvPr>
            <p:ph type="title"/>
          </p:nvPr>
        </p:nvSpPr>
        <p:spPr/>
        <p:txBody>
          <a:bodyPr/>
          <a:lstStyle/>
          <a:p>
            <a:r>
              <a:rPr lang="en-US" dirty="0"/>
              <a:t>history</a:t>
            </a:r>
          </a:p>
        </p:txBody>
      </p:sp>
      <p:sp>
        <p:nvSpPr>
          <p:cNvPr id="3" name="Content Placeholder 2">
            <a:extLst>
              <a:ext uri="{FF2B5EF4-FFF2-40B4-BE49-F238E27FC236}">
                <a16:creationId xmlns:a16="http://schemas.microsoft.com/office/drawing/2014/main" id="{1DEBDAAB-DC4B-A9CB-1AB9-8FD240B2A6EA}"/>
              </a:ext>
            </a:extLst>
          </p:cNvPr>
          <p:cNvSpPr>
            <a:spLocks noGrp="1"/>
          </p:cNvSpPr>
          <p:nvPr>
            <p:ph idx="1"/>
          </p:nvPr>
        </p:nvSpPr>
        <p:spPr>
          <a:xfrm>
            <a:off x="677334" y="1842537"/>
            <a:ext cx="8596668" cy="4518506"/>
          </a:xfrm>
        </p:spPr>
        <p:txBody>
          <a:bodyPr>
            <a:normAutofit/>
          </a:bodyPr>
          <a:lstStyle/>
          <a:p>
            <a:r>
              <a:rPr lang="en-US" sz="1800" dirty="0">
                <a:solidFill>
                  <a:srgbClr val="000000"/>
                </a:solidFill>
                <a:effectLst/>
                <a:latin typeface="Times New Roman" panose="02020603050405020304" pitchFamily="18" charset="0"/>
                <a:ea typeface="Times New Roman" panose="02020603050405020304" pitchFamily="18" charset="0"/>
              </a:rPr>
              <a:t>In the 1960s, neuroscientists like </a:t>
            </a:r>
            <a:r>
              <a:rPr lang="en-US" sz="1800" b="1" dirty="0">
                <a:solidFill>
                  <a:srgbClr val="000000"/>
                </a:solidFill>
                <a:effectLst/>
                <a:latin typeface="Times New Roman" panose="02020603050405020304" pitchFamily="18" charset="0"/>
                <a:ea typeface="Times New Roman" panose="02020603050405020304" pitchFamily="18" charset="0"/>
              </a:rPr>
              <a:t>José Delgado</a:t>
            </a:r>
            <a:r>
              <a:rPr lang="en-US" sz="1800" dirty="0">
                <a:solidFill>
                  <a:srgbClr val="000000"/>
                </a:solidFill>
                <a:effectLst/>
                <a:latin typeface="Times New Roman" panose="02020603050405020304" pitchFamily="18" charset="0"/>
                <a:ea typeface="Times New Roman" panose="02020603050405020304" pitchFamily="18" charset="0"/>
              </a:rPr>
              <a:t> conducted experiments demonstrating that electrical stimulation of the brain could influence behavior</a:t>
            </a:r>
            <a:endParaRPr lang="en-US"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Times New Roman" panose="02020603050405020304" pitchFamily="18" charset="0"/>
                <a:ea typeface="Times New Roman" panose="02020603050405020304" pitchFamily="18" charset="0"/>
              </a:rPr>
              <a:t>In 1988, the first successful EEG-based BCI system was demonstrated, allowing subjects to control a cursor on a screen.</a:t>
            </a:r>
            <a:endParaRPr lang="en-US"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Times New Roman" panose="02020603050405020304" pitchFamily="18" charset="0"/>
                <a:ea typeface="Times New Roman" panose="02020603050405020304" pitchFamily="18" charset="0"/>
              </a:rPr>
              <a:t>In the early 2000s, DARPA (Defense Advanced Research Projects Agency) funded </a:t>
            </a:r>
            <a:r>
              <a:rPr lang="en-US" sz="1800" b="1" dirty="0" err="1">
                <a:solidFill>
                  <a:srgbClr val="000000"/>
                </a:solidFill>
                <a:effectLst/>
                <a:latin typeface="Times New Roman" panose="02020603050405020304" pitchFamily="18" charset="0"/>
                <a:ea typeface="Times New Roman" panose="02020603050405020304" pitchFamily="18" charset="0"/>
              </a:rPr>
              <a:t>neuroprosthetics</a:t>
            </a:r>
            <a:r>
              <a:rPr lang="en-US" sz="1800" b="1" dirty="0">
                <a:solidFill>
                  <a:srgbClr val="000000"/>
                </a:solidFill>
                <a:effectLst/>
                <a:latin typeface="Times New Roman" panose="02020603050405020304" pitchFamily="18" charset="0"/>
                <a:ea typeface="Times New Roman" panose="02020603050405020304" pitchFamily="18" charset="0"/>
              </a:rPr>
              <a:t> research</a:t>
            </a:r>
            <a:r>
              <a:rPr lang="en-US" sz="1800" dirty="0">
                <a:solidFill>
                  <a:srgbClr val="000000"/>
                </a:solidFill>
                <a:effectLst/>
                <a:latin typeface="Times New Roman" panose="02020603050405020304" pitchFamily="18" charset="0"/>
                <a:ea typeface="Times New Roman" panose="02020603050405020304" pitchFamily="18" charset="0"/>
              </a:rPr>
              <a:t> for military and medical applications.</a:t>
            </a:r>
            <a:endParaRPr lang="en-US"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Times New Roman" panose="02020603050405020304" pitchFamily="18" charset="0"/>
                <a:ea typeface="Times New Roman" panose="02020603050405020304" pitchFamily="18" charset="0"/>
              </a:rPr>
              <a:t>In 2004, the first human patient received a </a:t>
            </a:r>
            <a:r>
              <a:rPr lang="en-US" sz="1800" b="1" dirty="0" err="1">
                <a:solidFill>
                  <a:srgbClr val="000000"/>
                </a:solidFill>
                <a:effectLst/>
                <a:latin typeface="Times New Roman" panose="02020603050405020304" pitchFamily="18" charset="0"/>
                <a:ea typeface="Times New Roman" panose="02020603050405020304" pitchFamily="18" charset="0"/>
              </a:rPr>
              <a:t>BrainGate</a:t>
            </a:r>
            <a:r>
              <a:rPr lang="en-US" sz="1800" dirty="0">
                <a:solidFill>
                  <a:srgbClr val="000000"/>
                </a:solidFill>
                <a:effectLst/>
                <a:latin typeface="Times New Roman" panose="02020603050405020304" pitchFamily="18" charset="0"/>
                <a:ea typeface="Times New Roman" panose="02020603050405020304" pitchFamily="18" charset="0"/>
              </a:rPr>
              <a:t> implant, allowing them to move a computer cursor using thought alone.</a:t>
            </a:r>
            <a:endParaRPr lang="en-US"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Times New Roman" panose="02020603050405020304" pitchFamily="18" charset="0"/>
                <a:ea typeface="Times New Roman" panose="02020603050405020304" pitchFamily="18" charset="0"/>
              </a:rPr>
              <a:t>In 2023, </a:t>
            </a:r>
            <a:r>
              <a:rPr lang="en-US" sz="1800" dirty="0" err="1">
                <a:solidFill>
                  <a:srgbClr val="000000"/>
                </a:solidFill>
                <a:effectLst/>
                <a:latin typeface="Times New Roman" panose="02020603050405020304" pitchFamily="18" charset="0"/>
                <a:ea typeface="Times New Roman" panose="02020603050405020304" pitchFamily="18" charset="0"/>
              </a:rPr>
              <a:t>Neuralink</a:t>
            </a:r>
            <a:r>
              <a:rPr lang="en-US" sz="1800" dirty="0">
                <a:solidFill>
                  <a:srgbClr val="000000"/>
                </a:solidFill>
                <a:effectLst/>
                <a:latin typeface="Times New Roman" panose="02020603050405020304" pitchFamily="18" charset="0"/>
                <a:ea typeface="Times New Roman" panose="02020603050405020304" pitchFamily="18" charset="0"/>
              </a:rPr>
              <a:t> received </a:t>
            </a:r>
            <a:r>
              <a:rPr lang="en-US" sz="1800" b="1" dirty="0">
                <a:solidFill>
                  <a:srgbClr val="000000"/>
                </a:solidFill>
                <a:effectLst/>
                <a:latin typeface="Times New Roman" panose="02020603050405020304" pitchFamily="18" charset="0"/>
                <a:ea typeface="Times New Roman" panose="02020603050405020304" pitchFamily="18" charset="0"/>
              </a:rPr>
              <a:t>FDA approval for human trials</a:t>
            </a:r>
            <a:r>
              <a:rPr lang="en-US" sz="1800" dirty="0">
                <a:solidFill>
                  <a:srgbClr val="000000"/>
                </a:solidFill>
                <a:effectLst/>
                <a:latin typeface="Times New Roman" panose="02020603050405020304" pitchFamily="18" charset="0"/>
                <a:ea typeface="Times New Roman" panose="02020603050405020304" pitchFamily="18" charset="0"/>
              </a:rPr>
              <a:t>, marking a major milestone.</a:t>
            </a:r>
            <a:endParaRPr lang="en-US"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Times New Roman" panose="02020603050405020304" pitchFamily="18" charset="0"/>
                <a:ea typeface="Times New Roman" panose="02020603050405020304" pitchFamily="18" charset="0"/>
              </a:rPr>
              <a:t>In January 2024, </a:t>
            </a:r>
            <a:r>
              <a:rPr lang="en-US" sz="1800" dirty="0" err="1">
                <a:solidFill>
                  <a:srgbClr val="000000"/>
                </a:solidFill>
                <a:effectLst/>
                <a:latin typeface="Times New Roman" panose="02020603050405020304" pitchFamily="18" charset="0"/>
                <a:ea typeface="Times New Roman" panose="02020603050405020304" pitchFamily="18" charset="0"/>
              </a:rPr>
              <a:t>Neuralink</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b="1" dirty="0">
                <a:solidFill>
                  <a:srgbClr val="000000"/>
                </a:solidFill>
                <a:effectLst/>
                <a:latin typeface="Times New Roman" panose="02020603050405020304" pitchFamily="18" charset="0"/>
                <a:ea typeface="Times New Roman" panose="02020603050405020304" pitchFamily="18" charset="0"/>
              </a:rPr>
              <a:t>successfully implanted its brain chip</a:t>
            </a:r>
            <a:r>
              <a:rPr lang="en-US" sz="1800" dirty="0">
                <a:solidFill>
                  <a:srgbClr val="000000"/>
                </a:solidFill>
                <a:effectLst/>
                <a:latin typeface="Times New Roman" panose="02020603050405020304" pitchFamily="18" charset="0"/>
                <a:ea typeface="Times New Roman" panose="02020603050405020304" pitchFamily="18" charset="0"/>
              </a:rPr>
              <a:t> in a human patient, who demonstrated the ability to control a computer cursor through thought.</a:t>
            </a:r>
            <a:endParaRPr lang="en-US" sz="1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1044236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597970"/>
            <a:ext cx="9905998" cy="953428"/>
          </a:xfrm>
        </p:spPr>
        <p:txBody>
          <a:bodyPr>
            <a:normAutofit fontScale="90000"/>
          </a:bodyPr>
          <a:lstStyle/>
          <a:p>
            <a:r>
              <a:rPr lang="en-US" sz="4000" b="1" dirty="0"/>
              <a:t>Brain chip Application </a:t>
            </a:r>
            <a:br>
              <a:rPr lang="en-US" sz="3600" b="1" dirty="0"/>
            </a:br>
            <a:br>
              <a:rPr lang="en-IN" b="1" dirty="0">
                <a:effectLst/>
              </a:rPr>
            </a:br>
            <a:endParaRPr lang="en-US" dirty="0"/>
          </a:p>
        </p:txBody>
      </p:sp>
      <p:sp>
        <p:nvSpPr>
          <p:cNvPr id="3" name="Content Placeholder 2"/>
          <p:cNvSpPr>
            <a:spLocks noGrp="1"/>
          </p:cNvSpPr>
          <p:nvPr>
            <p:ph idx="1"/>
          </p:nvPr>
        </p:nvSpPr>
        <p:spPr>
          <a:xfrm>
            <a:off x="1141412" y="1551398"/>
            <a:ext cx="9905999" cy="4859677"/>
          </a:xfrm>
        </p:spPr>
        <p:txBody>
          <a:bodyPr>
            <a:normAutofit/>
          </a:bodyPr>
          <a:lstStyle/>
          <a:p>
            <a:pPr marL="0" indent="0">
              <a:buNone/>
            </a:pP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 Medical Applications</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120"/>
              </a:spcAft>
              <a:buNone/>
            </a:pPr>
            <a:r>
              <a:rPr lang="en-US" sz="1800" b="1" dirty="0">
                <a:solidFill>
                  <a:srgbClr val="000000"/>
                </a:solidFill>
                <a:effectLst/>
                <a:latin typeface="Segoe UI Emoji" panose="020B0502040204020203" pitchFamily="34" charset="0"/>
                <a:ea typeface="Calibri" panose="020F0502020204030204" pitchFamily="34" charset="0"/>
                <a:cs typeface="Segoe UI Emoji" panose="020B0502040204020203" pitchFamily="34" charset="0"/>
              </a:rPr>
              <a:t>              ✅</a:t>
            </a: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Restoring Mobility for Paralyzed Patients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a:lnSpc>
                <a:spcPct val="115000"/>
              </a:lnSpc>
              <a:spcAft>
                <a:spcPts val="120"/>
              </a:spcAft>
              <a:buSzPts val="1000"/>
              <a:buNone/>
              <a:tabLst>
                <a:tab pos="457200" algn="l"/>
              </a:tabLst>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BCIs allow individuals with spinal cord injuries or paralysis to control robotic limbs, wheelchairs, or computers using their thoughts.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a:lnSpc>
                <a:spcPct val="115000"/>
              </a:lnSpc>
              <a:spcAft>
                <a:spcPts val="120"/>
              </a:spcAft>
              <a:buSzPts val="1000"/>
              <a:buNone/>
              <a:tabLst>
                <a:tab pos="457200" algn="l"/>
              </a:tabLst>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Example: </a:t>
            </a:r>
            <a:r>
              <a:rPr lang="en-US" sz="1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Neuralink</a:t>
            </a: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BrainGate</a:t>
            </a: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have demonstrated successful control of cursors and robotic arms by paralyzed individuals.</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a:lnSpc>
                <a:spcPct val="115000"/>
              </a:lnSpc>
              <a:spcAft>
                <a:spcPts val="120"/>
              </a:spcAft>
              <a:buSzPts val="1000"/>
              <a:buNone/>
              <a:tabLst>
                <a:tab pos="457200" algn="l"/>
              </a:tabLst>
            </a:pPr>
            <a:r>
              <a:rPr lang="en-US" sz="1800" b="1" dirty="0">
                <a:solidFill>
                  <a:srgbClr val="000000"/>
                </a:solidFill>
                <a:effectLst/>
                <a:latin typeface="Segoe UI Emoji" panose="020B0502040204020203" pitchFamily="34" charset="0"/>
                <a:ea typeface="Calibri" panose="020F0502020204030204" pitchFamily="34" charset="0"/>
                <a:cs typeface="Segoe UI Emoji" panose="020B0502040204020203" pitchFamily="34" charset="0"/>
              </a:rPr>
              <a:t>✅</a:t>
            </a: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Treating Neurological Disorders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a:lnSpc>
                <a:spcPct val="115000"/>
              </a:lnSpc>
              <a:spcAft>
                <a:spcPts val="120"/>
              </a:spcAft>
              <a:buSzPts val="1000"/>
              <a:buNone/>
              <a:tabLst>
                <a:tab pos="457200" algn="l"/>
              </a:tabLst>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Brain chips can help Parkinson’s disease, epilepsy, and Alzheimer’s by stimulating specific brain regions.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a:lnSpc>
                <a:spcPct val="115000"/>
              </a:lnSpc>
              <a:spcAft>
                <a:spcPts val="120"/>
              </a:spcAft>
              <a:buSzPts val="1000"/>
              <a:buNone/>
              <a:tabLst>
                <a:tab pos="457200" algn="l"/>
              </a:tabLst>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Example: Deep Brain Stimulation (DBS) is already used for treating Parkinson’s symptoms.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800" dirty="0"/>
          </a:p>
          <a:p>
            <a:pPr marL="0" indent="0">
              <a:buNone/>
            </a:pPr>
            <a:endParaRPr lang="en-US" b="1" dirty="0">
              <a:effectLst/>
            </a:endParaRPr>
          </a:p>
        </p:txBody>
      </p:sp>
    </p:spTree>
    <p:extLst>
      <p:ext uri="{BB962C8B-B14F-4D97-AF65-F5344CB8AC3E}">
        <p14:creationId xmlns:p14="http://schemas.microsoft.com/office/powerpoint/2010/main" val="2327437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3F67D-8D84-954D-8031-93554BBDFA16}"/>
              </a:ext>
            </a:extLst>
          </p:cNvPr>
          <p:cNvSpPr>
            <a:spLocks noGrp="1"/>
          </p:cNvSpPr>
          <p:nvPr>
            <p:ph type="title"/>
          </p:nvPr>
        </p:nvSpPr>
        <p:spPr>
          <a:xfrm>
            <a:off x="677334" y="609600"/>
            <a:ext cx="8596668" cy="837537"/>
          </a:xfrm>
        </p:spPr>
        <p:txBody>
          <a:bodyPr/>
          <a:lstStyle/>
          <a:p>
            <a:r>
              <a:rPr lang="en-US" sz="3600" b="1" dirty="0"/>
              <a:t>Brain </a:t>
            </a:r>
            <a:r>
              <a:rPr lang="en-US" b="1" dirty="0"/>
              <a:t>c</a:t>
            </a:r>
            <a:r>
              <a:rPr lang="en-US" sz="3600" b="1" dirty="0"/>
              <a:t>hip Application</a:t>
            </a:r>
            <a:endParaRPr lang="en-US" dirty="0"/>
          </a:p>
        </p:txBody>
      </p:sp>
      <p:sp>
        <p:nvSpPr>
          <p:cNvPr id="3" name="Content Placeholder 2">
            <a:extLst>
              <a:ext uri="{FF2B5EF4-FFF2-40B4-BE49-F238E27FC236}">
                <a16:creationId xmlns:a16="http://schemas.microsoft.com/office/drawing/2014/main" id="{4F781659-C578-D917-428A-8AF4795C5711}"/>
              </a:ext>
            </a:extLst>
          </p:cNvPr>
          <p:cNvSpPr>
            <a:spLocks noGrp="1"/>
          </p:cNvSpPr>
          <p:nvPr>
            <p:ph idx="1"/>
          </p:nvPr>
        </p:nvSpPr>
        <p:spPr>
          <a:xfrm>
            <a:off x="677334" y="1669775"/>
            <a:ext cx="8596668" cy="4371588"/>
          </a:xfrm>
        </p:spPr>
        <p:txBody>
          <a:bodyPr/>
          <a:lstStyle/>
          <a:p>
            <a:pPr marL="0" indent="0">
              <a:buNone/>
            </a:pP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Communication &amp; Accessibility</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120"/>
              </a:spcAft>
              <a:buNone/>
            </a:pPr>
            <a:r>
              <a:rPr lang="en-US" sz="1800" b="1" dirty="0">
                <a:solidFill>
                  <a:srgbClr val="000000"/>
                </a:solidFill>
                <a:effectLst/>
                <a:latin typeface="Segoe UI Emoji" panose="020B0502040204020203" pitchFamily="34" charset="0"/>
                <a:ea typeface="Calibri" panose="020F0502020204030204" pitchFamily="34" charset="0"/>
                <a:cs typeface="Segoe UI Emoji" panose="020B0502040204020203" pitchFamily="34" charset="0"/>
              </a:rPr>
              <a:t>✅</a:t>
            </a: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Mind-Controlled Typing &amp; Speech Assistance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a:lnSpc>
                <a:spcPct val="115000"/>
              </a:lnSpc>
              <a:spcAft>
                <a:spcPts val="120"/>
              </a:spcAft>
              <a:buSzPts val="1000"/>
              <a:buNone/>
              <a:tabLst>
                <a:tab pos="457200" algn="l"/>
              </a:tabLst>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BCIs help patients who cannot speak or type due to paralysis or neurological diseases.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a:lnSpc>
                <a:spcPct val="115000"/>
              </a:lnSpc>
              <a:spcAft>
                <a:spcPts val="120"/>
              </a:spcAft>
              <a:buSzPts val="1000"/>
              <a:buNone/>
              <a:tabLst>
                <a:tab pos="457200" algn="l"/>
              </a:tabLst>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Example: In 2021, a paralyzed man used a BCI to type words at 90 characters per minute using only his brain signals.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Aft>
                <a:spcPts val="12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120"/>
              </a:spcAft>
              <a:buNone/>
            </a:pPr>
            <a:r>
              <a:rPr lang="en-US" sz="1800" b="1" dirty="0">
                <a:solidFill>
                  <a:srgbClr val="000000"/>
                </a:solidFill>
                <a:effectLst/>
                <a:latin typeface="Segoe UI Emoji" panose="020B0502040204020203" pitchFamily="34" charset="0"/>
                <a:ea typeface="Calibri" panose="020F0502020204030204" pitchFamily="34" charset="0"/>
                <a:cs typeface="Segoe UI Emoji" panose="020B0502040204020203" pitchFamily="34" charset="0"/>
              </a:rPr>
              <a:t>✅</a:t>
            </a: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Brain-to-Text and Thought Communication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a:lnSpc>
                <a:spcPct val="115000"/>
              </a:lnSpc>
              <a:spcAft>
                <a:spcPts val="120"/>
              </a:spcAft>
              <a:buSzPts val="1000"/>
              <a:buNone/>
              <a:tabLst>
                <a:tab pos="457200" algn="l"/>
              </a:tabLst>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Future brain chips may allow people to send messages or emails just by thinking.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50267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a:t>
            </a:r>
          </a:p>
        </p:txBody>
      </p:sp>
      <p:sp>
        <p:nvSpPr>
          <p:cNvPr id="3" name="Content Placeholder 2"/>
          <p:cNvSpPr>
            <a:spLocks noGrp="1"/>
          </p:cNvSpPr>
          <p:nvPr>
            <p:ph idx="1"/>
          </p:nvPr>
        </p:nvSpPr>
        <p:spPr/>
        <p:txBody>
          <a:bodyPr>
            <a:normAutofit fontScale="92500" lnSpcReduction="20000"/>
          </a:bodyPr>
          <a:lstStyle/>
          <a:p>
            <a:pPr marL="0" marR="0">
              <a:lnSpc>
                <a:spcPct val="115000"/>
              </a:lnSpc>
              <a:spcBef>
                <a:spcPts val="1000"/>
              </a:spcBef>
              <a:buNone/>
            </a:pPr>
            <a:r>
              <a:rPr lang="en-US" sz="1900" b="1" dirty="0">
                <a:effectLst/>
                <a:latin typeface="Times New Roman" panose="02020603050405020304" pitchFamily="18" charset="0"/>
                <a:ea typeface="Times New Roman" panose="02020603050405020304" pitchFamily="18" charset="0"/>
                <a:cs typeface="Times New Roman" panose="02020603050405020304" pitchFamily="18" charset="0"/>
              </a:rPr>
              <a:t>1. Medical Benefits</a:t>
            </a:r>
            <a:endParaRPr lang="en-US" sz="1900" b="1" dirty="0">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ct val="115000"/>
              </a:lnSpc>
              <a:spcBef>
                <a:spcPts val="1000"/>
              </a:spcBef>
              <a:buNone/>
            </a:pPr>
            <a:r>
              <a:rPr lang="en-US" sz="19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900" dirty="0">
                <a:effectLst/>
                <a:latin typeface="Times New Roman" panose="02020603050405020304" pitchFamily="18" charset="0"/>
                <a:ea typeface="Calibri" panose="020F0502020204030204" pitchFamily="34" charset="0"/>
              </a:rPr>
              <a:t> Restoring Mobility: Helps paralyzed individuals control prosthetics and wheelchairs using thought.</a:t>
            </a:r>
            <a:br>
              <a:rPr lang="en-US" sz="1900" dirty="0">
                <a:effectLst/>
                <a:latin typeface="Times New Roman" panose="02020603050405020304" pitchFamily="18" charset="0"/>
                <a:ea typeface="Calibri" panose="020F0502020204030204" pitchFamily="34" charset="0"/>
              </a:rPr>
            </a:br>
            <a:r>
              <a:rPr lang="en-US" sz="1900" b="1" dirty="0">
                <a:effectLst/>
                <a:latin typeface="Times New Roman" panose="02020603050405020304" pitchFamily="18" charset="0"/>
                <a:ea typeface="Times New Roman" panose="02020603050405020304" pitchFamily="18" charset="0"/>
                <a:cs typeface="Times New Roman" panose="02020603050405020304" pitchFamily="18" charset="0"/>
              </a:rPr>
              <a:t>2. Enhanced Human Abilities</a:t>
            </a:r>
            <a:endParaRPr lang="en-US" sz="1900" b="1" dirty="0">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ct val="115000"/>
              </a:lnSpc>
              <a:spcBef>
                <a:spcPts val="1000"/>
              </a:spcBef>
              <a:buNone/>
            </a:pPr>
            <a:r>
              <a:rPr lang="en-US" sz="19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900" dirty="0">
                <a:effectLst/>
                <a:latin typeface="Times New Roman" panose="02020603050405020304" pitchFamily="18" charset="0"/>
                <a:ea typeface="Calibri" panose="020F0502020204030204" pitchFamily="34" charset="0"/>
              </a:rPr>
              <a:t> Mind-Controlled Devices: Enables hands-free operation of smartphones, computers, and even AI-powered robots.</a:t>
            </a:r>
            <a:br>
              <a:rPr lang="en-US" sz="1900" dirty="0">
                <a:effectLst/>
                <a:latin typeface="Times New Roman" panose="02020603050405020304" pitchFamily="18" charset="0"/>
                <a:ea typeface="Calibri" panose="020F0502020204030204" pitchFamily="34" charset="0"/>
              </a:rPr>
            </a:br>
            <a:r>
              <a:rPr lang="en-US" sz="1900" b="1" dirty="0">
                <a:effectLst/>
                <a:latin typeface="Times New Roman" panose="02020603050405020304" pitchFamily="18" charset="0"/>
                <a:ea typeface="Times New Roman" panose="02020603050405020304" pitchFamily="18" charset="0"/>
                <a:cs typeface="Times New Roman" panose="02020603050405020304" pitchFamily="18" charset="0"/>
              </a:rPr>
              <a:t>3. AI &amp; Digital Integration</a:t>
            </a:r>
            <a:endParaRPr lang="en-US" sz="1900" b="1" dirty="0">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ct val="115000"/>
              </a:lnSpc>
              <a:spcBef>
                <a:spcPts val="1000"/>
              </a:spcBef>
              <a:buNone/>
            </a:pPr>
            <a:r>
              <a:rPr lang="en-US" sz="19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900" dirty="0">
                <a:effectLst/>
                <a:latin typeface="Times New Roman" panose="02020603050405020304" pitchFamily="18" charset="0"/>
                <a:ea typeface="Calibri" panose="020F0502020204030204" pitchFamily="34" charset="0"/>
              </a:rPr>
              <a:t> Merging with AI: Humans could access real-time information from the internet directly in their minds.</a:t>
            </a:r>
            <a:br>
              <a:rPr lang="en-US" sz="1900" dirty="0">
                <a:effectLst/>
                <a:latin typeface="Times New Roman" panose="02020603050405020304" pitchFamily="18" charset="0"/>
                <a:ea typeface="Calibri" panose="020F0502020204030204" pitchFamily="34" charset="0"/>
              </a:rPr>
            </a:br>
            <a:r>
              <a:rPr lang="en-US" sz="1900" b="1" dirty="0">
                <a:effectLst/>
                <a:latin typeface="Times New Roman" panose="02020603050405020304" pitchFamily="18" charset="0"/>
                <a:ea typeface="Times New Roman" panose="02020603050405020304" pitchFamily="18" charset="0"/>
                <a:cs typeface="Times New Roman" panose="02020603050405020304" pitchFamily="18" charset="0"/>
              </a:rPr>
              <a:t>4. Military &amp; Security Applications</a:t>
            </a:r>
            <a:endParaRPr lang="en-US" sz="1900" b="1" dirty="0">
              <a:effectLst/>
              <a:latin typeface="Calibri Light" panose="020F0302020204030204" pitchFamily="34" charset="0"/>
              <a:ea typeface="Times New Roman" panose="02020603050405020304" pitchFamily="18" charset="0"/>
              <a:cs typeface="Times New Roman" panose="02020603050405020304" pitchFamily="18" charset="0"/>
            </a:endParaRPr>
          </a:p>
          <a:p>
            <a:pPr>
              <a:buNone/>
            </a:pPr>
            <a:r>
              <a:rPr lang="en-US" sz="19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900" dirty="0">
                <a:effectLst/>
                <a:latin typeface="Times New Roman" panose="02020603050405020304" pitchFamily="18" charset="0"/>
                <a:ea typeface="Calibri" panose="020F0502020204030204" pitchFamily="34" charset="0"/>
              </a:rPr>
              <a:t> Mind-Controlled Drones &amp; Weapons: Could assist soldiers in high-risk environments.</a:t>
            </a:r>
            <a:br>
              <a:rPr lang="en-US" sz="1900" dirty="0">
                <a:effectLst/>
                <a:latin typeface="Times New Roman" panose="02020603050405020304" pitchFamily="18" charset="0"/>
                <a:ea typeface="Calibri" panose="020F0502020204030204" pitchFamily="34" charset="0"/>
              </a:rPr>
            </a:br>
            <a:endParaRPr lang="en-US" sz="1900" dirty="0">
              <a:effectLst/>
            </a:endParaRPr>
          </a:p>
          <a:p>
            <a:endParaRPr lang="en-US" b="1" dirty="0">
              <a:effectLst/>
            </a:endParaRPr>
          </a:p>
        </p:txBody>
      </p:sp>
    </p:spTree>
    <p:extLst>
      <p:ext uri="{BB962C8B-B14F-4D97-AF65-F5344CB8AC3E}">
        <p14:creationId xmlns:p14="http://schemas.microsoft.com/office/powerpoint/2010/main" val="2106217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1086992"/>
          </a:xfrm>
        </p:spPr>
        <p:txBody>
          <a:bodyPr/>
          <a:lstStyle/>
          <a:p>
            <a:r>
              <a:rPr lang="en-US" b="1" dirty="0"/>
              <a:t>Disadvantages </a:t>
            </a:r>
            <a:endParaRPr lang="en-US" dirty="0"/>
          </a:p>
        </p:txBody>
      </p:sp>
      <p:sp>
        <p:nvSpPr>
          <p:cNvPr id="3" name="Content Placeholder 2"/>
          <p:cNvSpPr>
            <a:spLocks noGrp="1"/>
          </p:cNvSpPr>
          <p:nvPr>
            <p:ph idx="1"/>
          </p:nvPr>
        </p:nvSpPr>
        <p:spPr>
          <a:xfrm>
            <a:off x="1141412" y="1787703"/>
            <a:ext cx="9905999" cy="4003498"/>
          </a:xfrm>
        </p:spPr>
        <p:txBody>
          <a:bodyPr>
            <a:normAutofit/>
          </a:bodyPr>
          <a:lstStyle/>
          <a:p>
            <a:pPr marL="0" marR="0">
              <a:lnSpc>
                <a:spcPct val="115000"/>
              </a:lnSpc>
              <a:spcBef>
                <a:spcPts val="1000"/>
              </a:spcBef>
              <a:buNone/>
            </a:pP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1.Health Risks</a:t>
            </a:r>
            <a:endParaRPr lang="en-US" sz="1800" b="1" dirty="0">
              <a:solidFill>
                <a:schemeClr val="tx1"/>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ct val="115000"/>
              </a:lnSpc>
              <a:spcBef>
                <a:spcPts val="1000"/>
              </a:spcBef>
              <a:buNone/>
            </a:pPr>
            <a:r>
              <a:rPr lang="en-US" sz="1800" dirty="0">
                <a:solidFill>
                  <a:schemeClr val="tx1"/>
                </a:solidFill>
                <a:effectLst/>
                <a:latin typeface="Segoe UI Symbol" panose="020B0502040204020203" pitchFamily="34" charset="0"/>
                <a:ea typeface="Calibri" panose="020F0502020204030204" pitchFamily="34" charset="0"/>
                <a:cs typeface="Segoe UI Symbol" panose="020B0502040204020203" pitchFamily="34" charset="0"/>
              </a:rPr>
              <a:t>⚠</a:t>
            </a:r>
            <a:r>
              <a:rPr lang="en-US" sz="1800" dirty="0">
                <a:solidFill>
                  <a:schemeClr val="tx1"/>
                </a:solidFill>
                <a:effectLst/>
                <a:latin typeface="Times New Roman" panose="02020603050405020304" pitchFamily="18" charset="0"/>
                <a:ea typeface="Calibri" panose="020F0502020204030204" pitchFamily="34" charset="0"/>
              </a:rPr>
              <a:t> Brain Damage &amp; Surgery Risks: Implanting a chip requires surgery, which carries risks like infection or tissue damage.</a:t>
            </a:r>
            <a:br>
              <a:rPr lang="en-US" sz="1800" dirty="0">
                <a:solidFill>
                  <a:schemeClr val="tx1"/>
                </a:solidFill>
                <a:effectLst/>
                <a:latin typeface="Times New Roman" panose="02020603050405020304" pitchFamily="18" charset="0"/>
                <a:ea typeface="Calibri" panose="020F0502020204030204" pitchFamily="34"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 Ethical &amp; Privacy Concerns</a:t>
            </a:r>
            <a:endParaRPr lang="en-US" sz="1800" b="1" dirty="0">
              <a:solidFill>
                <a:schemeClr val="tx1"/>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ct val="115000"/>
              </a:lnSpc>
              <a:spcBef>
                <a:spcPts val="1000"/>
              </a:spcBef>
              <a:buNone/>
            </a:pPr>
            <a:r>
              <a:rPr lang="en-US" sz="1800" dirty="0">
                <a:solidFill>
                  <a:schemeClr val="tx1"/>
                </a:solidFill>
                <a:effectLst/>
                <a:latin typeface="Segoe UI Symbol" panose="020B0502040204020203" pitchFamily="34" charset="0"/>
                <a:ea typeface="Calibri" panose="020F0502020204030204" pitchFamily="34" charset="0"/>
                <a:cs typeface="Segoe UI Symbol" panose="020B0502040204020203" pitchFamily="34" charset="0"/>
              </a:rPr>
              <a:t>⚠</a:t>
            </a:r>
            <a:r>
              <a:rPr lang="en-US" sz="1800" dirty="0">
                <a:solidFill>
                  <a:schemeClr val="tx1"/>
                </a:solidFill>
                <a:effectLst/>
                <a:latin typeface="Times New Roman" panose="02020603050405020304" pitchFamily="18" charset="0"/>
                <a:ea typeface="Calibri" panose="020F0502020204030204" pitchFamily="34" charset="0"/>
              </a:rPr>
              <a:t> Brain Hacking &amp; Data Theft: If hacked, personal thoughts and memories could be stolen or manipulated.</a:t>
            </a:r>
            <a:br>
              <a:rPr lang="en-US" sz="1800" dirty="0">
                <a:solidFill>
                  <a:schemeClr val="tx1"/>
                </a:solidFill>
                <a:effectLst/>
                <a:latin typeface="Times New Roman" panose="02020603050405020304" pitchFamily="18" charset="0"/>
                <a:ea typeface="Calibri" panose="020F0502020204030204" pitchFamily="34"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 High Costs &amp; Accessibility</a:t>
            </a:r>
            <a:endParaRPr lang="en-US" sz="1800" b="1" dirty="0">
              <a:solidFill>
                <a:schemeClr val="tx1"/>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buNone/>
            </a:pPr>
            <a:r>
              <a:rPr lang="en-US" sz="1800" dirty="0">
                <a:solidFill>
                  <a:schemeClr val="tx1"/>
                </a:solidFill>
                <a:effectLst/>
                <a:latin typeface="Segoe UI Symbol" panose="020B0502040204020203" pitchFamily="34" charset="0"/>
                <a:ea typeface="Calibri" panose="020F0502020204030204" pitchFamily="34" charset="0"/>
                <a:cs typeface="Segoe UI Symbol" panose="020B0502040204020203" pitchFamily="34" charset="0"/>
              </a:rPr>
              <a:t>⚠</a:t>
            </a:r>
            <a:r>
              <a:rPr lang="en-US" sz="1800" dirty="0">
                <a:solidFill>
                  <a:schemeClr val="tx1"/>
                </a:solidFill>
                <a:effectLst/>
                <a:latin typeface="Times New Roman" panose="02020603050405020304" pitchFamily="18" charset="0"/>
                <a:ea typeface="Calibri" panose="020F0502020204030204" pitchFamily="34" charset="0"/>
              </a:rPr>
              <a:t> Expensive Technology: Brain chip implants and maintenance may be too costly for most people.</a:t>
            </a:r>
            <a:br>
              <a:rPr lang="en-US" sz="1800" dirty="0">
                <a:solidFill>
                  <a:schemeClr val="tx1"/>
                </a:solidFill>
                <a:effectLst/>
                <a:latin typeface="Times New Roman" panose="02020603050405020304" pitchFamily="18" charset="0"/>
                <a:ea typeface="Calibri" panose="020F0502020204030204" pitchFamily="34" charset="0"/>
              </a:rPr>
            </a:br>
            <a:endParaRPr lang="en-US" dirty="0">
              <a:solidFill>
                <a:schemeClr val="tx1"/>
              </a:solidFill>
              <a:effectLst/>
            </a:endParaRPr>
          </a:p>
          <a:p>
            <a:pPr lvl="0"/>
            <a:endParaRPr lang="en-US" dirty="0">
              <a:effectLst/>
            </a:endParaRPr>
          </a:p>
        </p:txBody>
      </p:sp>
    </p:spTree>
    <p:extLst>
      <p:ext uri="{BB962C8B-B14F-4D97-AF65-F5344CB8AC3E}">
        <p14:creationId xmlns:p14="http://schemas.microsoft.com/office/powerpoint/2010/main" val="1858781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9"/>
            <a:ext cx="9905998" cy="973976"/>
          </a:xfrm>
        </p:spPr>
        <p:txBody>
          <a:bodyPr>
            <a:normAutofit/>
          </a:bodyPr>
          <a:lstStyle/>
          <a:p>
            <a:r>
              <a:rPr lang="en-US" dirty="0">
                <a:effectLst/>
                <a:latin typeface="Calibri" panose="020F0502020204030204" pitchFamily="34" charset="0"/>
                <a:ea typeface="Calibri" panose="020F0502020204030204" pitchFamily="34" charset="0"/>
                <a:cs typeface="Times New Roman" panose="02020603050405020304" pitchFamily="18" charset="0"/>
              </a:rPr>
              <a:t>future enhancement of brain chip </a:t>
            </a:r>
            <a:endParaRPr lang="en-US" dirty="0"/>
          </a:p>
        </p:txBody>
      </p:sp>
      <p:sp>
        <p:nvSpPr>
          <p:cNvPr id="3" name="Content Placeholder 2"/>
          <p:cNvSpPr>
            <a:spLocks noGrp="1"/>
          </p:cNvSpPr>
          <p:nvPr>
            <p:ph idx="1"/>
          </p:nvPr>
        </p:nvSpPr>
        <p:spPr>
          <a:xfrm>
            <a:off x="1141412" y="1684962"/>
            <a:ext cx="9905999" cy="4106239"/>
          </a:xfrm>
        </p:spPr>
        <p:txBody>
          <a:bodyPr>
            <a:normAutofit/>
          </a:bodyPr>
          <a:lstStyle/>
          <a:p>
            <a:pPr marL="0" indent="0">
              <a:buNone/>
            </a:pPr>
            <a:br>
              <a:rPr lang="en-US" sz="1800" b="1" kern="150" dirty="0">
                <a:effectLst/>
                <a:latin typeface="Times New Roman" panose="02020603050405020304" pitchFamily="18" charset="0"/>
                <a:ea typeface="Times New Roman" panose="02020603050405020304" pitchFamily="18" charset="0"/>
              </a:rPr>
            </a:br>
            <a:r>
              <a:rPr lang="en-US" b="1" kern="15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1. AI-Integrated Brain Chips </a:t>
            </a:r>
            <a:r>
              <a:rPr lang="en-US" b="1" kern="150" dirty="0">
                <a:solidFill>
                  <a:schemeClr val="tx1"/>
                </a:solidFill>
                <a:latin typeface="Segoe UI Emoji" panose="020B0502040204020203" pitchFamily="34" charset="0"/>
                <a:ea typeface="Times New Roman" panose="02020603050405020304" pitchFamily="18" charset="0"/>
                <a:cs typeface="Segoe UI Emoji" panose="020B0502040204020203" pitchFamily="34" charset="0"/>
              </a:rPr>
              <a:t>🤖</a:t>
            </a:r>
            <a:endParaRPr lang="en-US"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b="1" kern="150" dirty="0">
                <a:solidFill>
                  <a:schemeClr val="tx1"/>
                </a:solidFill>
                <a:latin typeface="Segoe UI Emoji" panose="020B0502040204020203" pitchFamily="34" charset="0"/>
                <a:ea typeface="Times New Roman" panose="02020603050405020304" pitchFamily="18" charset="0"/>
                <a:cs typeface="Segoe UI Emoji" panose="020B0502040204020203" pitchFamily="34" charset="0"/>
              </a:rPr>
              <a:t>🔹</a:t>
            </a:r>
            <a:r>
              <a:rPr lang="en-US" b="1" kern="150" dirty="0">
                <a:solidFill>
                  <a:schemeClr val="tx1"/>
                </a:solidFill>
                <a:latin typeface="Times New Roman" panose="02020603050405020304" pitchFamily="18" charset="0"/>
                <a:ea typeface="Times New Roman" panose="02020603050405020304" pitchFamily="18" charset="0"/>
              </a:rPr>
              <a:t> Future chips will have AI-powered cognitive augmentation, allowing users to access and process information instantly.</a:t>
            </a:r>
            <a:br>
              <a:rPr lang="en-US" b="1" kern="150" dirty="0">
                <a:solidFill>
                  <a:schemeClr val="tx1"/>
                </a:solidFill>
                <a:latin typeface="Times New Roman" panose="02020603050405020304" pitchFamily="18" charset="0"/>
                <a:ea typeface="Times New Roman" panose="02020603050405020304" pitchFamily="18" charset="0"/>
              </a:rPr>
            </a:br>
            <a:r>
              <a:rPr lang="en-US" b="1" kern="150" dirty="0">
                <a:solidFill>
                  <a:schemeClr val="tx1"/>
                </a:solidFill>
                <a:latin typeface="Segoe UI Emoji" panose="020B0502040204020203" pitchFamily="34" charset="0"/>
                <a:ea typeface="Times New Roman" panose="02020603050405020304" pitchFamily="18" charset="0"/>
                <a:cs typeface="Segoe UI Emoji" panose="020B0502040204020203" pitchFamily="34" charset="0"/>
              </a:rPr>
              <a:t>🔹</a:t>
            </a:r>
            <a:r>
              <a:rPr lang="en-US" b="1" kern="150" dirty="0">
                <a:solidFill>
                  <a:schemeClr val="tx1"/>
                </a:solidFill>
                <a:latin typeface="Times New Roman" panose="02020603050405020304" pitchFamily="18" charset="0"/>
                <a:ea typeface="Times New Roman" panose="02020603050405020304" pitchFamily="18" charset="0"/>
              </a:rPr>
              <a:t> AI can enhance memory, creativity, and decision-making, similar to a digital assistant inside the brain.</a:t>
            </a:r>
          </a:p>
          <a:p>
            <a:pPr marL="0" indent="0">
              <a:buNone/>
            </a:pPr>
            <a:br>
              <a:rPr lang="en-US" b="1" kern="150" dirty="0">
                <a:solidFill>
                  <a:schemeClr val="tx1"/>
                </a:solidFill>
                <a:latin typeface="Times New Roman" panose="02020603050405020304" pitchFamily="18" charset="0"/>
                <a:ea typeface="Times New Roman" panose="02020603050405020304" pitchFamily="18" charset="0"/>
              </a:rPr>
            </a:br>
            <a:r>
              <a:rPr lang="en-US" b="1" kern="15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2. Wireless &amp; Non-Invasive Brain Chips </a:t>
            </a:r>
            <a:r>
              <a:rPr lang="en-US" b="1" kern="150" dirty="0">
                <a:solidFill>
                  <a:schemeClr val="tx1"/>
                </a:solidFill>
                <a:latin typeface="Segoe UI Emoji" panose="020B0502040204020203" pitchFamily="34" charset="0"/>
                <a:ea typeface="Times New Roman" panose="02020603050405020304" pitchFamily="18" charset="0"/>
                <a:cs typeface="Segoe UI Emoji" panose="020B0502040204020203" pitchFamily="34" charset="0"/>
              </a:rPr>
              <a:t>📡</a:t>
            </a:r>
            <a:endParaRPr lang="en-US"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b="1" kern="150" dirty="0">
                <a:solidFill>
                  <a:schemeClr val="tx1"/>
                </a:solidFill>
                <a:latin typeface="Segoe UI Emoji" panose="020B0502040204020203" pitchFamily="34" charset="0"/>
                <a:ea typeface="Times New Roman" panose="02020603050405020304" pitchFamily="18" charset="0"/>
                <a:cs typeface="Segoe UI Emoji" panose="020B0502040204020203" pitchFamily="34" charset="0"/>
              </a:rPr>
              <a:t>🔹</a:t>
            </a:r>
            <a:r>
              <a:rPr lang="en-US" b="1" kern="150" dirty="0">
                <a:solidFill>
                  <a:schemeClr val="tx1"/>
                </a:solidFill>
                <a:latin typeface="Times New Roman" panose="02020603050405020304" pitchFamily="18" charset="0"/>
                <a:ea typeface="Times New Roman" panose="02020603050405020304" pitchFamily="18" charset="0"/>
              </a:rPr>
              <a:t> Current BCIs require surgical implantation, but future chips </a:t>
            </a:r>
            <a:r>
              <a:rPr lang="en-US" sz="1800" b="1" kern="150" dirty="0">
                <a:solidFill>
                  <a:schemeClr val="tx1"/>
                </a:solidFill>
                <a:effectLst/>
                <a:latin typeface="Times New Roman" panose="02020603050405020304" pitchFamily="18" charset="0"/>
                <a:ea typeface="Times New Roman" panose="02020603050405020304" pitchFamily="18" charset="0"/>
              </a:rPr>
              <a:t>may use non-invasive techniques (like wearables or injectable nanobots).</a:t>
            </a:r>
            <a:br>
              <a:rPr lang="en-US" sz="1800" b="1" kern="150" dirty="0">
                <a:solidFill>
                  <a:schemeClr val="tx1"/>
                </a:solidFill>
                <a:effectLst/>
                <a:latin typeface="Times New Roman" panose="02020603050405020304" pitchFamily="18" charset="0"/>
                <a:ea typeface="Times New Roman" panose="02020603050405020304" pitchFamily="18" charset="0"/>
              </a:rPr>
            </a:br>
            <a:r>
              <a:rPr lang="en-US" sz="1800" b="1" kern="150" dirty="0">
                <a:solidFill>
                  <a:schemeClr val="tx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b="1" kern="150" dirty="0">
                <a:solidFill>
                  <a:schemeClr val="tx1"/>
                </a:solidFill>
                <a:effectLst/>
                <a:latin typeface="Times New Roman" panose="02020603050405020304" pitchFamily="18" charset="0"/>
                <a:ea typeface="Times New Roman" panose="02020603050405020304" pitchFamily="18" charset="0"/>
              </a:rPr>
              <a:t> Example: </a:t>
            </a:r>
            <a:r>
              <a:rPr lang="en-US" sz="1800" b="1" kern="150" dirty="0" err="1">
                <a:solidFill>
                  <a:schemeClr val="tx1"/>
                </a:solidFill>
                <a:effectLst/>
                <a:latin typeface="Times New Roman" panose="02020603050405020304" pitchFamily="18" charset="0"/>
                <a:ea typeface="Times New Roman" panose="02020603050405020304" pitchFamily="18" charset="0"/>
              </a:rPr>
              <a:t>Synchron’s</a:t>
            </a:r>
            <a:r>
              <a:rPr lang="en-US" sz="1800" b="1" kern="150" dirty="0">
                <a:solidFill>
                  <a:schemeClr val="tx1"/>
                </a:solidFill>
                <a:effectLst/>
                <a:latin typeface="Times New Roman" panose="02020603050405020304" pitchFamily="18" charset="0"/>
                <a:ea typeface="Times New Roman" panose="02020603050405020304" pitchFamily="18" charset="0"/>
              </a:rPr>
              <a:t> </a:t>
            </a:r>
            <a:r>
              <a:rPr lang="en-US" sz="1800" b="1" kern="150" dirty="0" err="1">
                <a:solidFill>
                  <a:schemeClr val="tx1"/>
                </a:solidFill>
                <a:effectLst/>
                <a:latin typeface="Times New Roman" panose="02020603050405020304" pitchFamily="18" charset="0"/>
                <a:ea typeface="Times New Roman" panose="02020603050405020304" pitchFamily="18" charset="0"/>
              </a:rPr>
              <a:t>Stentrode</a:t>
            </a:r>
            <a:r>
              <a:rPr lang="en-US" sz="1800" b="1" kern="150" dirty="0">
                <a:solidFill>
                  <a:schemeClr val="tx1"/>
                </a:solidFill>
                <a:effectLst/>
                <a:latin typeface="Times New Roman" panose="02020603050405020304" pitchFamily="18" charset="0"/>
                <a:ea typeface="Times New Roman" panose="02020603050405020304" pitchFamily="18" charset="0"/>
              </a:rPr>
              <a:t> uses blood vessels to place electrodes in the brain without surgery</a:t>
            </a:r>
            <a:r>
              <a:rPr lang="en-US" sz="1800" b="1" kern="150" dirty="0">
                <a:effectLst/>
                <a:latin typeface="Times New Roman" panose="02020603050405020304" pitchFamily="18" charset="0"/>
                <a:ea typeface="Times New Roman" panose="02020603050405020304" pitchFamily="18" charset="0"/>
              </a:rPr>
              <a:t>.</a:t>
            </a:r>
            <a:br>
              <a:rPr lang="en-US" sz="1800" b="1" kern="150" dirty="0">
                <a:effectLst/>
                <a:latin typeface="Times New Roman" panose="02020603050405020304" pitchFamily="18" charset="0"/>
                <a:ea typeface="Times New Roman" panose="02020603050405020304" pitchFamily="18" charset="0"/>
              </a:rPr>
            </a:br>
            <a:endParaRPr lang="en-US" dirty="0">
              <a:solidFill>
                <a:schemeClr val="tx1"/>
              </a:solidFill>
            </a:endParaRPr>
          </a:p>
        </p:txBody>
      </p:sp>
    </p:spTree>
    <p:extLst>
      <p:ext uri="{BB962C8B-B14F-4D97-AF65-F5344CB8AC3E}">
        <p14:creationId xmlns:p14="http://schemas.microsoft.com/office/powerpoint/2010/main" val="3186364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9"/>
            <a:ext cx="9905998" cy="931985"/>
          </a:xfrm>
        </p:spPr>
        <p:txBody>
          <a:bodyPr/>
          <a:lstStyle/>
          <a:p>
            <a:r>
              <a:rPr lang="en-US" dirty="0">
                <a:effectLst/>
                <a:latin typeface="Calibri" panose="020F0502020204030204" pitchFamily="34" charset="0"/>
                <a:ea typeface="Calibri" panose="020F0502020204030204" pitchFamily="34" charset="0"/>
                <a:cs typeface="Times New Roman" panose="02020603050405020304" pitchFamily="18" charset="0"/>
              </a:rPr>
              <a:t>future enhancement of brain chip </a:t>
            </a:r>
            <a:endParaRPr lang="en-US" dirty="0"/>
          </a:p>
        </p:txBody>
      </p:sp>
      <p:sp>
        <p:nvSpPr>
          <p:cNvPr id="3" name="Content Placeholder 2"/>
          <p:cNvSpPr>
            <a:spLocks noGrp="1"/>
          </p:cNvSpPr>
          <p:nvPr>
            <p:ph idx="1"/>
          </p:nvPr>
        </p:nvSpPr>
        <p:spPr>
          <a:xfrm>
            <a:off x="1141413" y="1715188"/>
            <a:ext cx="9905998" cy="4524293"/>
          </a:xfrm>
        </p:spPr>
        <p:txBody>
          <a:bodyPr>
            <a:noAutofit/>
          </a:bodyPr>
          <a:lstStyle/>
          <a:p>
            <a:pPr marL="0" indent="0">
              <a:buNone/>
            </a:pPr>
            <a:r>
              <a:rPr lang="en-US" b="1" kern="15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3</a:t>
            </a:r>
            <a:r>
              <a:rPr lang="en-US" sz="1800" b="1" kern="15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Expanded Medical Applications </a:t>
            </a:r>
            <a:r>
              <a:rPr lang="en-US" sz="1800" b="1" kern="150" dirty="0">
                <a:solidFill>
                  <a:srgbClr val="00B0F0"/>
                </a:solidFill>
                <a:effectLst/>
                <a:latin typeface="Segoe UI Emoji" panose="020B0502040204020203" pitchFamily="34" charset="0"/>
                <a:ea typeface="Times New Roman" panose="02020603050405020304" pitchFamily="18" charset="0"/>
                <a:cs typeface="Segoe UI Emoji" panose="020B0502040204020203" pitchFamily="34"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1800" b="1" kern="150" dirty="0">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b="1" kern="150" dirty="0">
                <a:effectLst/>
                <a:latin typeface="Times New Roman" panose="02020603050405020304" pitchFamily="18" charset="0"/>
                <a:ea typeface="Times New Roman" panose="02020603050405020304" pitchFamily="18" charset="0"/>
              </a:rPr>
              <a:t> Curing Mental Illnesses – BCIs could treat depression, PTSD, anxiety, and schizophrenia by reprogramming brain activity.</a:t>
            </a:r>
            <a:br>
              <a:rPr lang="en-US" sz="1800" b="1" kern="150" dirty="0">
                <a:effectLst/>
                <a:latin typeface="Times New Roman" panose="02020603050405020304" pitchFamily="18" charset="0"/>
                <a:ea typeface="Times New Roman" panose="02020603050405020304" pitchFamily="18" charset="0"/>
              </a:rPr>
            </a:br>
            <a:r>
              <a:rPr lang="en-US" sz="1800" b="1" kern="150" dirty="0">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b="1" kern="150" dirty="0">
                <a:effectLst/>
                <a:latin typeface="Times New Roman" panose="02020603050405020304" pitchFamily="18" charset="0"/>
                <a:ea typeface="Times New Roman" panose="02020603050405020304" pitchFamily="18" charset="0"/>
              </a:rPr>
              <a:t> Restoring Memory – Chips could help Alzheimer’s patients retrieve lost memories by simulating neural pathways.</a:t>
            </a:r>
            <a:br>
              <a:rPr lang="en-US" sz="1800" b="1" kern="150" dirty="0">
                <a:effectLst/>
                <a:latin typeface="Times New Roman" panose="02020603050405020304" pitchFamily="18" charset="0"/>
                <a:ea typeface="Times New Roman" panose="02020603050405020304" pitchFamily="18" charset="0"/>
              </a:rPr>
            </a:br>
            <a:endParaRPr lang="en-US" sz="1800" b="1" kern="150" dirty="0">
              <a:effectLst/>
              <a:latin typeface="Times New Roman" panose="02020603050405020304" pitchFamily="18" charset="0"/>
              <a:ea typeface="Times New Roman" panose="02020603050405020304" pitchFamily="18" charset="0"/>
            </a:endParaRPr>
          </a:p>
          <a:p>
            <a:pPr marL="0" indent="0">
              <a:buNone/>
            </a:pPr>
            <a:r>
              <a:rPr lang="en-US" b="1" kern="15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4</a:t>
            </a:r>
            <a:r>
              <a:rPr lang="en-US" sz="1800" b="1" kern="15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Enhanced Human Intelligence (Superhuman Abilities) </a:t>
            </a:r>
            <a:r>
              <a:rPr lang="en-US" sz="1800" b="1" kern="150" dirty="0">
                <a:solidFill>
                  <a:schemeClr val="tx1"/>
                </a:solidFill>
                <a:effectLst/>
                <a:latin typeface="Segoe UI Emoji" panose="020B0502040204020203" pitchFamily="34" charset="0"/>
                <a:ea typeface="Times New Roman" panose="02020603050405020304" pitchFamily="18" charset="0"/>
                <a:cs typeface="Segoe UI Emoji" panose="020B0502040204020203" pitchFamily="34" charset="0"/>
              </a:rPr>
              <a:t>⚡</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1800" b="1" kern="150" dirty="0">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b="1" kern="150" dirty="0">
                <a:effectLst/>
                <a:latin typeface="Times New Roman" panose="02020603050405020304" pitchFamily="18" charset="0"/>
                <a:ea typeface="Times New Roman" panose="02020603050405020304" pitchFamily="18" charset="0"/>
              </a:rPr>
              <a:t> Brain chips may allow instant access to knowledge, like downloading languages, skills, or scientific information.</a:t>
            </a:r>
            <a:br>
              <a:rPr lang="en-US" sz="1800" b="1" kern="150" dirty="0">
                <a:effectLst/>
                <a:latin typeface="Times New Roman" panose="02020603050405020304" pitchFamily="18" charset="0"/>
                <a:ea typeface="Times New Roman" panose="02020603050405020304" pitchFamily="18" charset="0"/>
              </a:rPr>
            </a:br>
            <a:r>
              <a:rPr lang="en-US" sz="1800" b="1" kern="150" dirty="0">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b="1" kern="150" dirty="0">
                <a:effectLst/>
                <a:latin typeface="Times New Roman" panose="02020603050405020304" pitchFamily="18" charset="0"/>
                <a:ea typeface="Times New Roman" panose="02020603050405020304" pitchFamily="18" charset="0"/>
              </a:rPr>
              <a:t> Cognitive processing speed could be greatly improved, allowing people to analyze complex data in seconds.</a:t>
            </a:r>
            <a:br>
              <a:rPr lang="en-US" sz="1800" b="1" kern="150" dirty="0">
                <a:effectLst/>
                <a:latin typeface="Times New Roman" panose="02020603050405020304" pitchFamily="18" charset="0"/>
                <a:ea typeface="Times New Roman" panose="02020603050405020304" pitchFamily="18" charset="0"/>
              </a:rPr>
            </a:br>
            <a:endParaRPr lang="en-US" dirty="0"/>
          </a:p>
        </p:txBody>
      </p:sp>
    </p:spTree>
    <p:extLst>
      <p:ext uri="{BB962C8B-B14F-4D97-AF65-F5344CB8AC3E}">
        <p14:creationId xmlns:p14="http://schemas.microsoft.com/office/powerpoint/2010/main" val="4101593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1051255"/>
          </a:xfrm>
        </p:spPr>
        <p:txBody>
          <a:bodyPr>
            <a:normAutofit/>
          </a:bodyPr>
          <a:lstStyle/>
          <a:p>
            <a:r>
              <a:rPr lang="en-US" b="1" dirty="0">
                <a:latin typeface="Calibri" panose="020F0502020204030204" pitchFamily="34" charset="0"/>
                <a:ea typeface="Calibri" panose="020F0502020204030204" pitchFamily="34" charset="0"/>
                <a:cs typeface="Times New Roman" panose="02020603050405020304" pitchFamily="18" charset="0"/>
              </a:rPr>
              <a:t>Brain chip diagrams or figures </a:t>
            </a:r>
            <a:endParaRPr lang="en-US" b="1" dirty="0"/>
          </a:p>
        </p:txBody>
      </p:sp>
      <p:pic>
        <p:nvPicPr>
          <p:cNvPr id="4" name="Content Placeholder 3">
            <a:extLst>
              <a:ext uri="{FF2B5EF4-FFF2-40B4-BE49-F238E27FC236}">
                <a16:creationId xmlns:a16="http://schemas.microsoft.com/office/drawing/2014/main" id="{80218334-C2DD-8292-A81C-1E2F6B78B66D}"/>
              </a:ext>
            </a:extLst>
          </p:cNvPr>
          <p:cNvPicPr>
            <a:picLocks noGrp="1" noChangeAspect="1"/>
          </p:cNvPicPr>
          <p:nvPr>
            <p:ph idx="1"/>
          </p:nvPr>
        </p:nvPicPr>
        <p:blipFill>
          <a:blip r:embed="rId2"/>
          <a:stretch>
            <a:fillRect/>
          </a:stretch>
        </p:blipFill>
        <p:spPr>
          <a:xfrm>
            <a:off x="2219954" y="1462694"/>
            <a:ext cx="4872609" cy="4872609"/>
          </a:xfrm>
        </p:spPr>
      </p:pic>
    </p:spTree>
    <p:extLst>
      <p:ext uri="{BB962C8B-B14F-4D97-AF65-F5344CB8AC3E}">
        <p14:creationId xmlns:p14="http://schemas.microsoft.com/office/powerpoint/2010/main" val="2098735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891783"/>
          </a:xfrm>
        </p:spPr>
        <p:txBody>
          <a:bodyPr>
            <a:normAutofit/>
          </a:bodyPr>
          <a:lstStyle/>
          <a:p>
            <a:r>
              <a:rPr lang="en-US" b="1" dirty="0">
                <a:latin typeface="Calibri" panose="020F0502020204030204" pitchFamily="34" charset="0"/>
                <a:ea typeface="Calibri" panose="020F0502020204030204" pitchFamily="34" charset="0"/>
                <a:cs typeface="Times New Roman" panose="02020603050405020304" pitchFamily="18" charset="0"/>
              </a:rPr>
              <a:t>Brain chip diagrams or figures </a:t>
            </a:r>
            <a:endParaRPr lang="en-US" dirty="0"/>
          </a:p>
        </p:txBody>
      </p:sp>
      <p:sp>
        <p:nvSpPr>
          <p:cNvPr id="3" name="Content Placeholder 2"/>
          <p:cNvSpPr>
            <a:spLocks noGrp="1"/>
          </p:cNvSpPr>
          <p:nvPr>
            <p:ph idx="1"/>
          </p:nvPr>
        </p:nvSpPr>
        <p:spPr>
          <a:xfrm>
            <a:off x="1141412" y="1510300"/>
            <a:ext cx="9905999" cy="4890499"/>
          </a:xfrm>
        </p:spPr>
        <p:txBody>
          <a:bodyPr>
            <a:normAutofit/>
          </a:bodyPr>
          <a:lstStyle/>
          <a:p>
            <a:pPr marL="0" marR="0" algn="ctr">
              <a:lnSpc>
                <a:spcPct val="115000"/>
              </a:lnSpc>
              <a:spcAft>
                <a:spcPts val="120"/>
              </a:spcAft>
              <a:buNone/>
            </a:pP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Electrode Array (Neural Interface)</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ctr">
              <a:lnSpc>
                <a:spcPct val="115000"/>
              </a:lnSpc>
              <a:spcAft>
                <a:spcPts val="120"/>
              </a:spcAft>
              <a:buSzPts val="1000"/>
              <a:buFont typeface="Symbol" panose="05050102010706020507" pitchFamily="18" charset="2"/>
              <a:buChar char=""/>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Microscopic electrodes that interact with neurons to send and receive </a:t>
            </a:r>
            <a:r>
              <a:rPr lang="en-US" sz="1800" b="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signalCan</a:t>
            </a: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be invasive (implanted in the brain) or non-invasive (external sensors).</a:t>
            </a:r>
          </a:p>
          <a:p>
            <a:pPr marL="342900" marR="0" lvl="0" indent="-342900" algn="ctr">
              <a:lnSpc>
                <a:spcPct val="115000"/>
              </a:lnSpc>
              <a:spcAft>
                <a:spcPts val="120"/>
              </a:spcAft>
              <a:buSzPts val="1000"/>
              <a:buFont typeface="Symbol" panose="05050102010706020507" pitchFamily="18" charset="2"/>
              <a:buChar char=""/>
              <a:tabLst>
                <a:tab pos="457200" algn="l"/>
              </a:tabLst>
            </a:pPr>
            <a:endPar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120"/>
              </a:spcAft>
              <a:buNone/>
            </a:pPr>
            <a:r>
              <a:rPr lang="en-US" dirty="0">
                <a:solidFill>
                  <a:schemeClr val="tx1"/>
                </a:solidFill>
                <a:effectLst/>
              </a:rPr>
              <a:t>                                            </a:t>
            </a: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Analog Front-End (AFE) Circuit</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ctr">
              <a:lnSpc>
                <a:spcPct val="115000"/>
              </a:lnSpc>
              <a:spcAft>
                <a:spcPts val="120"/>
              </a:spcAft>
              <a:buSzPts val="1000"/>
              <a:buFont typeface="Symbol" panose="05050102010706020507" pitchFamily="18" charset="2"/>
              <a:buChar char=""/>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Amplifies and filters neural signals.</a:t>
            </a:r>
            <a:endPar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ctr">
              <a:lnSpc>
                <a:spcPct val="115000"/>
              </a:lnSpc>
              <a:spcAft>
                <a:spcPts val="120"/>
              </a:spcAft>
              <a:buSzPts val="1000"/>
              <a:buFont typeface="Symbol" panose="05050102010706020507" pitchFamily="18" charset="2"/>
              <a:buChar char=""/>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Converts weak biological signals into usable electrical signals.</a:t>
            </a:r>
          </a:p>
          <a:p>
            <a:pPr marL="342900" marR="0" lvl="0" indent="-342900" algn="ctr">
              <a:lnSpc>
                <a:spcPct val="115000"/>
              </a:lnSpc>
              <a:spcAft>
                <a:spcPts val="120"/>
              </a:spcAft>
              <a:buSzPts val="1000"/>
              <a:buFont typeface="Symbol" panose="05050102010706020507" pitchFamily="18" charset="2"/>
              <a:buChar char=""/>
              <a:tabLst>
                <a:tab pos="457200" algn="l"/>
              </a:tabLst>
            </a:pPr>
            <a:endPar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15000"/>
              </a:lnSpc>
              <a:spcAft>
                <a:spcPts val="120"/>
              </a:spcAft>
              <a:buNone/>
            </a:pP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Communication Module</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ctr">
              <a:lnSpc>
                <a:spcPct val="115000"/>
              </a:lnSpc>
              <a:spcAft>
                <a:spcPts val="120"/>
              </a:spcAft>
              <a:buSzPts val="1000"/>
              <a:buFont typeface="Symbol" panose="05050102010706020507" pitchFamily="18" charset="2"/>
              <a:buChar char=""/>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Wireless or wired interface to external systems (computers, prosthetics, etc.).</a:t>
            </a:r>
            <a:endPar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1800" b="1" dirty="0">
                <a:solidFill>
                  <a:srgbClr val="000000"/>
                </a:solidFill>
                <a:effectLst/>
                <a:latin typeface="Times New Roman" panose="02020603050405020304" pitchFamily="18" charset="0"/>
                <a:ea typeface="Times New Roman" panose="02020603050405020304" pitchFamily="18" charset="0"/>
              </a:rPr>
              <a:t>Uses Bluetooth, RF, or optical transmission</a:t>
            </a:r>
            <a:endParaRPr lang="en-US" dirty="0">
              <a:effectLst/>
            </a:endParaRPr>
          </a:p>
        </p:txBody>
      </p:sp>
    </p:spTree>
    <p:extLst>
      <p:ext uri="{BB962C8B-B14F-4D97-AF65-F5344CB8AC3E}">
        <p14:creationId xmlns:p14="http://schemas.microsoft.com/office/powerpoint/2010/main" val="3578568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7"/>
            <a:ext cx="9905998" cy="987645"/>
          </a:xfrm>
        </p:spPr>
        <p:txBody>
          <a:bodyPr>
            <a:normAutofit/>
          </a:bodyPr>
          <a:lstStyle/>
          <a:p>
            <a:r>
              <a:rPr lang="en-US" b="1" dirty="0">
                <a:latin typeface="Calibri" panose="020F0502020204030204" pitchFamily="34" charset="0"/>
                <a:ea typeface="Calibri" panose="020F0502020204030204" pitchFamily="34" charset="0"/>
                <a:cs typeface="Times New Roman" panose="02020603050405020304" pitchFamily="18" charset="0"/>
              </a:rPr>
              <a:t>Brain chip diagrams or figures </a:t>
            </a:r>
            <a:endParaRPr lang="en-US" dirty="0"/>
          </a:p>
        </p:txBody>
      </p:sp>
      <p:sp>
        <p:nvSpPr>
          <p:cNvPr id="3" name="Content Placeholder 2"/>
          <p:cNvSpPr>
            <a:spLocks noGrp="1"/>
          </p:cNvSpPr>
          <p:nvPr>
            <p:ph idx="1"/>
          </p:nvPr>
        </p:nvSpPr>
        <p:spPr>
          <a:xfrm>
            <a:off x="1141412" y="1852653"/>
            <a:ext cx="9905999" cy="3938547"/>
          </a:xfrm>
        </p:spPr>
        <p:txBody>
          <a:bodyPr>
            <a:normAutofit fontScale="92500" lnSpcReduction="20000"/>
          </a:bodyPr>
          <a:lstStyle/>
          <a:p>
            <a:pPr marL="0" marR="0" algn="ctr">
              <a:lnSpc>
                <a:spcPct val="115000"/>
              </a:lnSpc>
              <a:spcAft>
                <a:spcPts val="120"/>
              </a:spcAft>
              <a:buNone/>
            </a:pP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Signal Processing Unit (SPU)</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ctr">
              <a:lnSpc>
                <a:spcPct val="115000"/>
              </a:lnSpc>
              <a:spcAft>
                <a:spcPts val="120"/>
              </a:spcAft>
              <a:buSzPts val="1000"/>
              <a:buFont typeface="Symbol" panose="05050102010706020507" pitchFamily="18" charset="2"/>
              <a:buChar char=""/>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Extracts meaningful information from raw neural data.</a:t>
            </a:r>
            <a:endPar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ctr">
              <a:lnSpc>
                <a:spcPct val="115000"/>
              </a:lnSpc>
              <a:spcAft>
                <a:spcPts val="120"/>
              </a:spcAft>
              <a:buSzPts val="1000"/>
              <a:buFont typeface="Symbol" panose="05050102010706020507" pitchFamily="18" charset="2"/>
              <a:buChar char=""/>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Can include AI and machine learning for pattern recognition.</a:t>
            </a:r>
          </a:p>
          <a:p>
            <a:pPr marL="342900" marR="0" lvl="0" indent="-342900" algn="ctr">
              <a:lnSpc>
                <a:spcPct val="115000"/>
              </a:lnSpc>
              <a:spcAft>
                <a:spcPts val="120"/>
              </a:spcAft>
              <a:buSzPts val="1000"/>
              <a:buFont typeface="Symbol" panose="05050102010706020507" pitchFamily="18" charset="2"/>
              <a:buChar char=""/>
              <a:tabLst>
                <a:tab pos="457200" algn="l"/>
              </a:tabLst>
            </a:pPr>
            <a:endPar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120"/>
              </a:spcAft>
              <a:buNone/>
            </a:pP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Memory &amp; Data Storage</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ctr">
              <a:lnSpc>
                <a:spcPct val="115000"/>
              </a:lnSpc>
              <a:spcAft>
                <a:spcPts val="120"/>
              </a:spcAft>
              <a:buSzPts val="1000"/>
              <a:buFont typeface="Symbol" panose="05050102010706020507" pitchFamily="18" charset="2"/>
              <a:buChar char=""/>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Stores recorded neural activity.</a:t>
            </a:r>
            <a:endPar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ctr">
              <a:lnSpc>
                <a:spcPct val="115000"/>
              </a:lnSpc>
              <a:spcAft>
                <a:spcPts val="120"/>
              </a:spcAft>
              <a:buSzPts val="1000"/>
              <a:buFont typeface="Symbol" panose="05050102010706020507" pitchFamily="18" charset="2"/>
              <a:buChar char=""/>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Can be used for learning and adaptive responses.</a:t>
            </a:r>
          </a:p>
          <a:p>
            <a:pPr marL="342900" marR="0" lvl="0" indent="-342900" algn="ctr">
              <a:lnSpc>
                <a:spcPct val="115000"/>
              </a:lnSpc>
              <a:spcAft>
                <a:spcPts val="120"/>
              </a:spcAft>
              <a:buSzPts val="1000"/>
              <a:buFont typeface="Symbol" panose="05050102010706020507" pitchFamily="18" charset="2"/>
              <a:buChar char=""/>
              <a:tabLst>
                <a:tab pos="457200" algn="l"/>
              </a:tabLst>
            </a:pPr>
            <a:endPar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15000"/>
              </a:lnSpc>
              <a:spcAft>
                <a:spcPts val="120"/>
              </a:spcAft>
              <a:buNone/>
            </a:pP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Feedback &amp; Stimulation System</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ctr">
              <a:lnSpc>
                <a:spcPct val="115000"/>
              </a:lnSpc>
              <a:spcAft>
                <a:spcPts val="120"/>
              </a:spcAft>
              <a:buSzPts val="1000"/>
              <a:buFont typeface="Symbol" panose="05050102010706020507" pitchFamily="18" charset="2"/>
              <a:buChar char=""/>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Can send electrical impulses back to the brain for therapy or control.</a:t>
            </a:r>
            <a:endPar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ctr">
              <a:lnSpc>
                <a:spcPct val="115000"/>
              </a:lnSpc>
              <a:spcAft>
                <a:spcPts val="12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ctr">
              <a:lnSpc>
                <a:spcPct val="115000"/>
              </a:lnSpc>
              <a:spcAft>
                <a:spcPts val="120"/>
              </a:spcAft>
              <a:buSzPts val="1000"/>
              <a:buFont typeface="Symbol" panose="05050102010706020507" pitchFamily="18" charset="2"/>
              <a:buChar char=""/>
              <a:tabLst>
                <a:tab pos="457200" algn="l"/>
              </a:tabLst>
            </a:pPr>
            <a:endPar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effectLst/>
            </a:endParaRPr>
          </a:p>
        </p:txBody>
      </p:sp>
    </p:spTree>
    <p:extLst>
      <p:ext uri="{BB962C8B-B14F-4D97-AF65-F5344CB8AC3E}">
        <p14:creationId xmlns:p14="http://schemas.microsoft.com/office/powerpoint/2010/main" val="2520484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381663"/>
            <a:ext cx="9905998" cy="840962"/>
          </a:xfrm>
        </p:spPr>
        <p:txBody>
          <a:bodyPr>
            <a:normAutofit/>
          </a:bodyPr>
          <a:lstStyle/>
          <a:p>
            <a:r>
              <a:rPr lang="en-US" b="1" dirty="0">
                <a:latin typeface="Calibri" panose="020F0502020204030204" pitchFamily="34" charset="0"/>
                <a:ea typeface="Calibri" panose="020F0502020204030204" pitchFamily="34" charset="0"/>
                <a:cs typeface="Times New Roman" panose="02020603050405020304" pitchFamily="18" charset="0"/>
              </a:rPr>
              <a:t>Brain chip related comparative technology</a:t>
            </a:r>
            <a:endParaRPr lang="en-US" dirty="0"/>
          </a:p>
        </p:txBody>
      </p:sp>
      <p:sp>
        <p:nvSpPr>
          <p:cNvPr id="3" name="Content Placeholder 2"/>
          <p:cNvSpPr>
            <a:spLocks noGrp="1"/>
          </p:cNvSpPr>
          <p:nvPr>
            <p:ph idx="1"/>
          </p:nvPr>
        </p:nvSpPr>
        <p:spPr>
          <a:xfrm>
            <a:off x="1141412" y="1550503"/>
            <a:ext cx="9905999" cy="3768919"/>
          </a:xfrm>
        </p:spPr>
        <p:txBody>
          <a:bodyPr>
            <a:normAutofit/>
          </a:bodyPr>
          <a:lstStyle/>
          <a:p>
            <a:pPr marL="0" marR="0">
              <a:lnSpc>
                <a:spcPct val="115000"/>
              </a:lnSpc>
              <a:spcAft>
                <a:spcPts val="1000"/>
              </a:spcAft>
              <a:buNone/>
            </a:pPr>
            <a:r>
              <a:rPr lang="en-US" sz="1800" b="1" dirty="0">
                <a:solidFill>
                  <a:srgbClr val="00B0F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a:lnSpc>
                <a:spcPct val="115000"/>
              </a:lnSpc>
              <a:spcAft>
                <a:spcPts val="1000"/>
              </a:spcAft>
              <a:buNone/>
            </a:pP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 </a:t>
            </a:r>
            <a:r>
              <a:rPr lang="en-US" sz="1800" b="1"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Neuralink</a:t>
            </a: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(Elon Musk's Company)</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Ultra-thin flexible electrodes (less damage to brain tissue).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Wireless communication with external devices.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Robot-assisted precise implantation.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High-bandwidth neural data transfer.</a:t>
            </a:r>
            <a:b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Applications: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Medical (paralysis treatment), AI-enhanced cognition, communication.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buNone/>
            </a:pPr>
            <a:endParaRPr lang="en-US" dirty="0">
              <a:effectLst/>
            </a:endParaRPr>
          </a:p>
        </p:txBody>
      </p:sp>
    </p:spTree>
    <p:extLst>
      <p:ext uri="{BB962C8B-B14F-4D97-AF65-F5344CB8AC3E}">
        <p14:creationId xmlns:p14="http://schemas.microsoft.com/office/powerpoint/2010/main" val="3497810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95210"/>
            <a:ext cx="9905998" cy="886167"/>
          </a:xfrm>
        </p:spPr>
        <p:txBody>
          <a:bodyPr/>
          <a:lstStyle/>
          <a:p>
            <a:r>
              <a:rPr lang="en-US" b="1" dirty="0">
                <a:latin typeface="Calibri" panose="020F0502020204030204" pitchFamily="34" charset="0"/>
                <a:ea typeface="Calibri" panose="020F0502020204030204" pitchFamily="34" charset="0"/>
                <a:cs typeface="Times New Roman" panose="02020603050405020304" pitchFamily="18" charset="0"/>
              </a:rPr>
              <a:t>Brain chip related comparative technology</a:t>
            </a:r>
            <a:endParaRPr lang="en-US" dirty="0"/>
          </a:p>
        </p:txBody>
      </p:sp>
      <p:sp>
        <p:nvSpPr>
          <p:cNvPr id="3" name="Content Placeholder 2"/>
          <p:cNvSpPr>
            <a:spLocks noGrp="1"/>
          </p:cNvSpPr>
          <p:nvPr>
            <p:ph idx="1"/>
          </p:nvPr>
        </p:nvSpPr>
        <p:spPr>
          <a:xfrm>
            <a:off x="1047584" y="1868557"/>
            <a:ext cx="9905999" cy="2790908"/>
          </a:xfrm>
        </p:spPr>
        <p:txBody>
          <a:bodyPr>
            <a:normAutofit fontScale="92500" lnSpcReduction="20000"/>
          </a:bodyPr>
          <a:lstStyle/>
          <a:p>
            <a:pPr marL="0" marR="0">
              <a:lnSpc>
                <a:spcPct val="115000"/>
              </a:lnSpc>
              <a:spcAft>
                <a:spcPts val="1000"/>
              </a:spcAft>
              <a:buNone/>
            </a:pP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 </a:t>
            </a:r>
            <a:r>
              <a:rPr lang="en-US" sz="1800" b="1"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Synchron</a:t>
            </a: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Stentrode</a:t>
            </a: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Implanted through blood vessels (minimally invasive).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Uses stent-like electrodes to detect brain signals.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Low risk compared to direct brain implantation.</a:t>
            </a:r>
            <a:b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Applications: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Restoring mobility, speech assistance for ALS patients.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Aft>
                <a:spcPts val="10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buNone/>
            </a:pPr>
            <a:endParaRPr lang="en-US" dirty="0">
              <a:effectLst/>
            </a:endParaRPr>
          </a:p>
        </p:txBody>
      </p:sp>
    </p:spTree>
    <p:extLst>
      <p:ext uri="{BB962C8B-B14F-4D97-AF65-F5344CB8AC3E}">
        <p14:creationId xmlns:p14="http://schemas.microsoft.com/office/powerpoint/2010/main" val="4059581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41406"/>
            <a:ext cx="8596668" cy="1320800"/>
          </a:xfrm>
        </p:spPr>
        <p:txBody>
          <a:bodyPr/>
          <a:lstStyle/>
          <a:p>
            <a:r>
              <a:rPr lang="en-US" b="1" dirty="0">
                <a:latin typeface="Calibri" panose="020F0502020204030204" pitchFamily="34" charset="0"/>
                <a:ea typeface="Calibri" panose="020F0502020204030204" pitchFamily="34" charset="0"/>
                <a:cs typeface="Times New Roman" panose="02020603050405020304" pitchFamily="18" charset="0"/>
              </a:rPr>
              <a:t>Brain chip related comparative technology</a:t>
            </a:r>
            <a:endParaRPr lang="en-US" dirty="0"/>
          </a:p>
        </p:txBody>
      </p:sp>
      <p:sp>
        <p:nvSpPr>
          <p:cNvPr id="3" name="Content Placeholder 2"/>
          <p:cNvSpPr>
            <a:spLocks noGrp="1"/>
          </p:cNvSpPr>
          <p:nvPr>
            <p:ph idx="1"/>
          </p:nvPr>
        </p:nvSpPr>
        <p:spPr>
          <a:xfrm>
            <a:off x="677334" y="2160590"/>
            <a:ext cx="8596668" cy="3127028"/>
          </a:xfrm>
        </p:spPr>
        <p:txBody>
          <a:bodyPr/>
          <a:lstStyle/>
          <a:p>
            <a:pPr marL="0" marR="0">
              <a:lnSpc>
                <a:spcPct val="115000"/>
              </a:lnSpc>
              <a:spcAft>
                <a:spcPts val="1000"/>
              </a:spcAft>
              <a:buNone/>
            </a:pP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 </a:t>
            </a:r>
            <a:r>
              <a:rPr lang="en-US" sz="1800" b="1"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BrainGate</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Uses a multi-electrode array for precise signal capture.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Requires an external wired connection for data transfer.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Proven effectiveness in restoring movement control.</a:t>
            </a:r>
            <a:b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Applications: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Restoring motor function in paralyzed patients.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effectLst/>
            </a:endParaRPr>
          </a:p>
        </p:txBody>
      </p:sp>
    </p:spTree>
    <p:extLst>
      <p:ext uri="{BB962C8B-B14F-4D97-AF65-F5344CB8AC3E}">
        <p14:creationId xmlns:p14="http://schemas.microsoft.com/office/powerpoint/2010/main" val="951285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597970"/>
            <a:ext cx="9905998" cy="1056170"/>
          </a:xfrm>
        </p:spPr>
        <p:txBody>
          <a:bodyPr>
            <a:normAutofit/>
          </a:bodyPr>
          <a:lstStyle/>
          <a:p>
            <a:r>
              <a:rPr lang="en-US" dirty="0"/>
              <a:t>conclusion</a:t>
            </a:r>
          </a:p>
        </p:txBody>
      </p:sp>
      <p:sp>
        <p:nvSpPr>
          <p:cNvPr id="6" name="Content Placeholder 5">
            <a:extLst>
              <a:ext uri="{FF2B5EF4-FFF2-40B4-BE49-F238E27FC236}">
                <a16:creationId xmlns:a16="http://schemas.microsoft.com/office/drawing/2014/main" id="{8EB5272E-C91B-84CD-A85A-E4DC658E9E01}"/>
              </a:ext>
            </a:extLst>
          </p:cNvPr>
          <p:cNvSpPr>
            <a:spLocks noGrp="1"/>
          </p:cNvSpPr>
          <p:nvPr>
            <p:ph idx="1"/>
          </p:nvPr>
        </p:nvSpPr>
        <p:spPr/>
        <p:txBody>
          <a:bodyPr/>
          <a:lstStyle/>
          <a:p>
            <a:pPr marL="0" marR="0" algn="just">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Brain chips are an exciting technology that can help people by improving brain functions, treating diseases, and even connecting the brain to computers. They could help people with paralysis move again or assist those with memory loss. Scientists and companies are working hard to make these chips safe and useful.</a:t>
            </a:r>
          </a:p>
          <a:p>
            <a:pPr marL="0" marR="0" algn="just">
              <a:lnSpc>
                <a:spcPct val="115000"/>
              </a:lnSpc>
              <a:spcAft>
                <a:spcPts val="10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However, there are also risks, like privacy concerns and possible health issues. It’s important to test them properly and make rules to protect people.</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Aft>
                <a:spcPts val="10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simple terms, brain chips could change lives for the better, but we need to be careful and responsible in using them.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60495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90600" y="2844800"/>
            <a:ext cx="10274300" cy="923330"/>
          </a:xfrm>
          <a:prstGeom prst="rect">
            <a:avLst/>
          </a:prstGeom>
          <a:noFill/>
        </p:spPr>
        <p:txBody>
          <a:bodyPr wrap="square" rtlCol="0">
            <a:spAutoFit/>
          </a:bodyPr>
          <a:lstStyle/>
          <a:p>
            <a:r>
              <a:rPr lang="en-US" sz="5400" dirty="0"/>
              <a:t>             THANK YOU!!</a:t>
            </a:r>
          </a:p>
        </p:txBody>
      </p:sp>
    </p:spTree>
    <p:extLst>
      <p:ext uri="{BB962C8B-B14F-4D97-AF65-F5344CB8AC3E}">
        <p14:creationId xmlns:p14="http://schemas.microsoft.com/office/powerpoint/2010/main" val="183152653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
  <TotalTime>674</TotalTime>
  <Words>1255</Words>
  <Application>Microsoft Office PowerPoint</Application>
  <PresentationFormat>Widescreen</PresentationFormat>
  <Paragraphs>120</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Calibri</vt:lpstr>
      <vt:lpstr>Calibri Light</vt:lpstr>
      <vt:lpstr>Segoe UI Emoji</vt:lpstr>
      <vt:lpstr>Segoe UI Symbol</vt:lpstr>
      <vt:lpstr>Symbol</vt:lpstr>
      <vt:lpstr>Times New Roman</vt:lpstr>
      <vt:lpstr>Trebuchet MS</vt:lpstr>
      <vt:lpstr>Wingdings 3</vt:lpstr>
      <vt:lpstr>Facet</vt:lpstr>
      <vt:lpstr>PowerPoint Presentation</vt:lpstr>
      <vt:lpstr>Content</vt:lpstr>
      <vt:lpstr>Introduction</vt:lpstr>
      <vt:lpstr>history</vt:lpstr>
      <vt:lpstr>Brain chip Application   </vt:lpstr>
      <vt:lpstr>Brain chip Application</vt:lpstr>
      <vt:lpstr>Advantages</vt:lpstr>
      <vt:lpstr>Disadvantages </vt:lpstr>
      <vt:lpstr>future enhancement of brain chip </vt:lpstr>
      <vt:lpstr>future enhancement of brain chip </vt:lpstr>
      <vt:lpstr>Brain chip diagrams or figures </vt:lpstr>
      <vt:lpstr>Brain chip diagrams or figures </vt:lpstr>
      <vt:lpstr>Brain chip diagrams or figures </vt:lpstr>
      <vt:lpstr>Brain chip related comparative technology</vt:lpstr>
      <vt:lpstr>Brain chip related comparative technology</vt:lpstr>
      <vt:lpstr>Brain chip related comparative technology</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Ayurvedic Remedic</dc:title>
  <dc:creator>Admin</dc:creator>
  <cp:lastModifiedBy>Hasti Sangani</cp:lastModifiedBy>
  <cp:revision>91</cp:revision>
  <dcterms:created xsi:type="dcterms:W3CDTF">2024-10-19T05:41:02Z</dcterms:created>
  <dcterms:modified xsi:type="dcterms:W3CDTF">2025-03-22T03:06:04Z</dcterms:modified>
</cp:coreProperties>
</file>